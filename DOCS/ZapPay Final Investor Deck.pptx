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Poppins ExtraBold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5D8D3-1BF3-4B50-9305-CF8E948BE8D6}">
  <a:tblStyle styleId="{5655D8D3-1BF3-4B50-9305-CF8E948BE8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9.xml"/><Relationship Id="rId37" Type="http://schemas.openxmlformats.org/officeDocument/2006/relationships/font" Target="fonts/PoppinsExtraBold-bold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Italic.fntdata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ExtraBold-boldItalic.fntdata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216bd2da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216bd2da1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4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35496"/>
            <a:ext cx="6191250" cy="5587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9200" y="1206996"/>
            <a:ext cx="16764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219200" y="2083296"/>
            <a:ext cx="5220652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11182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Fueling India's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11182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Digital Drive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219200" y="4536578"/>
            <a:ext cx="4972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Instant QR payments at petrol pumps, eliminating cash hassles, queues, and fraud.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219200" y="5250953"/>
            <a:ext cx="4972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vision: to digitize 85,000+ outlets nationwide.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34924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638300"/>
            <a:ext cx="3492549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1638300"/>
            <a:ext cx="34924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The Fuel Retail Pain Points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2743200"/>
            <a:ext cx="304694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Operational Inefficiency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3629025"/>
            <a:ext cx="29018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Drivers waste minutes counting change while staff handle soiled cash, causing queues that spill onto roads. UPIs and QR payments are often obstructed by internet connections, leading to severe delays.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44925" y="2743200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Revenue Leakage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4925" y="3257550"/>
            <a:ext cx="2901999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Shrinkage and pilferage silently erode the 3-5% dealer margin, directly threatening the profitability and sustainability of the retail outlet's daily operations.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23225" y="2743200"/>
            <a:ext cx="304694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Digital Gap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3225" y="3257550"/>
            <a:ext cx="29018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Urban pumps selling 8,000 to 20,000 litres daily still lack the swift, automated digital rails required to handle massive traffic with zero friction and absolute reliability.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0669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925" y="2066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0669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571500" y="571500"/>
            <a:ext cx="668083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Hyperlocal &amp; Speed First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0"/>
            <a:ext cx="48768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38200" y="1457325"/>
            <a:ext cx="2710338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Zero-Wait Experience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1819275"/>
            <a:ext cx="28479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Autopay convenience for a seamless drive-in and drive-out journey.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990975" y="1457325"/>
            <a:ext cx="26903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Enhanced Security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705225" y="1819275"/>
            <a:ext cx="28479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Vehicle-linked tracking and digital receipts for complete transparency and trust.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2747962"/>
            <a:ext cx="26903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Scalable Pilot Model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109912"/>
            <a:ext cx="28479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Starting with a dense pilot across 10-20 pumps to perfect the rapid payment model.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943350" y="2747962"/>
            <a:ext cx="27403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 POS Hardware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705225" y="3109912"/>
            <a:ext cx="284797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No bulky terminals required. The ecosystem is entirely mobile and QR driven.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4038600"/>
            <a:ext cx="264033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Eradicate Queues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4400550"/>
            <a:ext cx="28479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Eliminate cash hassles, exact change problems, and long waiting lines.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990975" y="4038600"/>
            <a:ext cx="269033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RBI-Compliant Rails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705225" y="4400550"/>
            <a:ext cx="28479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Built on secure, standard UPI networks ensuring 100% compliance and reliability.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5225" y="15049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05225" y="279558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8622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5225" y="4086225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Size &amp; Scalability</a:t>
            </a:r>
            <a:endParaRPr b="1" sz="3600">
              <a:solidFill>
                <a:srgbClr val="1118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123825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We don't scale by adding hardware (which increases friction). We scale by replicating dense micro-zones.</a:t>
            </a:r>
            <a:endParaRPr b="0" i="1" sz="14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7" name="Google Shape;137;p16"/>
          <p:cNvGrpSpPr/>
          <p:nvPr/>
        </p:nvGrpSpPr>
        <p:grpSpPr>
          <a:xfrm>
            <a:off x="571500" y="1905000"/>
            <a:ext cx="11049000" cy="1333500"/>
            <a:chOff x="0" y="0"/>
            <a:chExt cx="11049000" cy="13335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11049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381000" y="238125"/>
              <a:ext cx="1905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TAM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(55,000 Pumps)</a:t>
              </a:r>
              <a:endParaRPr b="0" sz="1400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2667000" y="2381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Total Fuel Retail Infrastructure</a:t>
              </a:r>
              <a:endParaRPr b="0" sz="18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The total addressable market encompasses all petrol pumps nationwide.</a:t>
              </a:r>
              <a:endParaRPr b="0" sz="13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42" name="Google Shape;14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7000" y="428625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16"/>
          <p:cNvGrpSpPr/>
          <p:nvPr/>
        </p:nvGrpSpPr>
        <p:grpSpPr>
          <a:xfrm>
            <a:off x="571500" y="3429000"/>
            <a:ext cx="11049000" cy="1333500"/>
            <a:chOff x="0" y="0"/>
            <a:chExt cx="11049000" cy="1333500"/>
          </a:xfrm>
        </p:grpSpPr>
        <p:sp>
          <p:nvSpPr>
            <p:cNvPr id="144" name="Google Shape;144;p16"/>
            <p:cNvSpPr/>
            <p:nvPr/>
          </p:nvSpPr>
          <p:spPr>
            <a:xfrm>
              <a:off x="0" y="0"/>
              <a:ext cx="11049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381000" y="238125"/>
              <a:ext cx="1905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SAM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(40,000 Urban Pumps)</a:t>
              </a:r>
              <a:endParaRPr b="0" sz="1200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2667000" y="238125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₹87.5L to ₹2.2Cr Daily Profit Pool</a:t>
              </a:r>
              <a:endParaRPr b="0" sz="18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Around 8.5 M litres of cashless sales daily. Impulse and quick-refuel segments suited perfectly.</a:t>
              </a:r>
              <a:endParaRPr b="0" sz="13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48" name="Google Shape;14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287000" y="428625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16"/>
          <p:cNvGrpSpPr/>
          <p:nvPr/>
        </p:nvGrpSpPr>
        <p:grpSpPr>
          <a:xfrm>
            <a:off x="571500" y="4953000"/>
            <a:ext cx="11049000" cy="1333500"/>
            <a:chOff x="0" y="0"/>
            <a:chExt cx="11049000" cy="13335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11049000" cy="1333500"/>
            </a:xfrm>
            <a:prstGeom prst="roundRect">
              <a:avLst>
                <a:gd fmla="val 8571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381000" y="238125"/>
              <a:ext cx="1905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SOM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(0.86M Litres/day)</a:t>
              </a:r>
              <a:endParaRPr b="0" sz="1200">
                <a:solidFill>
                  <a:srgbClr val="4B5563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2667000" y="238125"/>
              <a:ext cx="762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1182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₹4.3L Daily Revenue</a:t>
              </a:r>
              <a:endParaRPr b="0" sz="1800">
                <a:solidFill>
                  <a:srgbClr val="11182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Capturing 10% of urban cashless market at 0.5% transaction fee.</a:t>
              </a:r>
              <a:endParaRPr b="0" sz="13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54" name="Google Shape;15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7000" y="428625"/>
              <a:ext cx="476400" cy="476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The Micro-Economics of a Single Pump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13162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look at the daily economics for an average urban petrol pump and ZapPay's value proposition.</a:t>
            </a:r>
            <a:endParaRPr/>
          </a:p>
        </p:txBody>
      </p:sp>
      <p:grpSp>
        <p:nvGrpSpPr>
          <p:cNvPr id="161" name="Google Shape;161;p17"/>
          <p:cNvGrpSpPr/>
          <p:nvPr/>
        </p:nvGrpSpPr>
        <p:grpSpPr>
          <a:xfrm>
            <a:off x="571425" y="1737950"/>
            <a:ext cx="11049150" cy="571500"/>
            <a:chOff x="0" y="0"/>
            <a:chExt cx="11049150" cy="5715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3524400" cy="571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0" y="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Metrics</a:t>
              </a:r>
              <a:endPara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667125" y="0"/>
              <a:ext cx="3714900" cy="571500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667125" y="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Current State (Avg. Urban Pump)</a:t>
              </a:r>
              <a:endParaRPr b="1" sz="14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7524750" y="0"/>
              <a:ext cx="3524400" cy="57150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524750" y="0"/>
              <a:ext cx="352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With ZapPay (20% Target)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571500" y="2428875"/>
            <a:ext cx="11049150" cy="1333500"/>
            <a:chOff x="0" y="0"/>
            <a:chExt cx="11049150" cy="13335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Daily Volume</a:t>
              </a:r>
              <a:endParaRPr b="1" sz="1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Litres dispensed daily</a:t>
              </a:r>
              <a:endParaRPr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3667125" y="0"/>
              <a:ext cx="37149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7"/>
            <p:cNvSpPr txBox="1"/>
            <p:nvPr/>
          </p:nvSpPr>
          <p:spPr>
            <a:xfrm>
              <a:off x="3667125" y="0"/>
              <a:ext cx="3714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12,000 L</a:t>
              </a:r>
              <a:endParaRPr b="1" sz="2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High friction mixed payments</a:t>
              </a:r>
              <a:endParaRPr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752475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752475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2,400 L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Zero-friction automated volume</a:t>
              </a:r>
              <a:endParaRPr sz="11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7"/>
          <p:cNvGrpSpPr/>
          <p:nvPr/>
        </p:nvGrpSpPr>
        <p:grpSpPr>
          <a:xfrm>
            <a:off x="571500" y="3905250"/>
            <a:ext cx="11049150" cy="1333500"/>
            <a:chOff x="0" y="0"/>
            <a:chExt cx="11049150" cy="13335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Financial Throughput</a:t>
              </a:r>
              <a:endParaRPr b="1" sz="1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Gross Profit vs Txn Value</a:t>
              </a:r>
              <a:endParaRPr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3667125" y="0"/>
              <a:ext cx="37149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3667125" y="0"/>
              <a:ext cx="3714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₹40,800</a:t>
              </a:r>
              <a:endParaRPr b="1" sz="2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Dealer Gross Profit (~3-5%)</a:t>
              </a:r>
              <a:endParaRPr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752475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52475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₹2.4 L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Total Txn Value Processed</a:t>
              </a:r>
              <a:endParaRPr sz="11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571500" y="5381625"/>
            <a:ext cx="11049150" cy="1333500"/>
            <a:chOff x="0" y="0"/>
            <a:chExt cx="11049150" cy="1333500"/>
          </a:xfrm>
        </p:grpSpPr>
        <p:sp>
          <p:nvSpPr>
            <p:cNvPr id="183" name="Google Shape;183;p17"/>
            <p:cNvSpPr/>
            <p:nvPr/>
          </p:nvSpPr>
          <p:spPr>
            <a:xfrm>
              <a:off x="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7"/>
            <p:cNvSpPr txBox="1"/>
            <p:nvPr/>
          </p:nvSpPr>
          <p:spPr>
            <a:xfrm>
              <a:off x="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ZapPay Revenue</a:t>
              </a:r>
              <a:endParaRPr b="1" sz="1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At 0.5% transaction fee</a:t>
              </a:r>
              <a:endParaRPr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3667125" y="0"/>
              <a:ext cx="3714900" cy="1333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3667125" y="0"/>
              <a:ext cx="3714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9CA3AF"/>
                  </a:solidFill>
                  <a:latin typeface="Poppins"/>
                  <a:ea typeface="Poppins"/>
                  <a:cs typeface="Poppins"/>
                  <a:sym typeface="Poppins"/>
                </a:rPr>
                <a:t>-</a:t>
              </a:r>
              <a:endParaRPr b="1" sz="2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7524750" y="0"/>
              <a:ext cx="3524400" cy="1333500"/>
            </a:xfrm>
            <a:prstGeom prst="roundRect">
              <a:avLst>
                <a:gd fmla="val 5714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 txBox="1"/>
            <p:nvPr/>
          </p:nvSpPr>
          <p:spPr>
            <a:xfrm>
              <a:off x="7524750" y="0"/>
              <a:ext cx="352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₹1,200 </a:t>
              </a:r>
              <a:r>
                <a:rPr b="0" lang="en-US" sz="1800">
                  <a:solidFill>
                    <a:srgbClr val="4B5563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/ day</a:t>
              </a:r>
              <a:endParaRPr b="1" sz="28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E11D4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₹4.4 L Annual Revenue per Pump</a:t>
              </a:r>
              <a:endParaRPr b="0" sz="1100">
                <a:solidFill>
                  <a:srgbClr val="E11D4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62063"/>
            <a:ext cx="3048000" cy="552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476363"/>
            <a:ext cx="2819400" cy="52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The 6-Step Autopay Journey</a:t>
            </a:r>
            <a:endParaRPr/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1476363"/>
            <a:ext cx="2819400" cy="529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8"/>
          <p:cNvGrpSpPr/>
          <p:nvPr/>
        </p:nvGrpSpPr>
        <p:grpSpPr>
          <a:xfrm>
            <a:off x="4476750" y="1524000"/>
            <a:ext cx="3429000" cy="1285800"/>
            <a:chOff x="0" y="0"/>
            <a:chExt cx="3429000" cy="12858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148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Register</a:t>
              </a:r>
              <a:endParaRPr b="0" sz="1295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Customer seamlessly onboards onto the platform.</a:t>
              </a:r>
              <a:endParaRPr b="0" sz="1018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0" name="Google Shape;200;p18"/>
          <p:cNvGrpSpPr/>
          <p:nvPr/>
        </p:nvGrpSpPr>
        <p:grpSpPr>
          <a:xfrm>
            <a:off x="8191500" y="1524000"/>
            <a:ext cx="3429000" cy="1285800"/>
            <a:chOff x="0" y="0"/>
            <a:chExt cx="3429000" cy="1285800"/>
          </a:xfrm>
        </p:grpSpPr>
        <p:sp>
          <p:nvSpPr>
            <p:cNvPr id="201" name="Google Shape;201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b="1" sz="16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Receive QR</a:t>
              </a:r>
              <a:endParaRPr b="0" sz="140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Tamper-proof sticker issued to the vehicle.</a:t>
              </a:r>
              <a:endParaRPr b="0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4476750" y="3000375"/>
            <a:ext cx="3429000" cy="1285800"/>
            <a:chOff x="0" y="0"/>
            <a:chExt cx="3429000" cy="12858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b="1" sz="148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Scan</a:t>
              </a:r>
              <a:endParaRPr b="0" sz="1295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Operator effortlessly scans the QR on arrival.</a:t>
              </a:r>
              <a:endParaRPr b="0" sz="1018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8191500" y="3000375"/>
            <a:ext cx="3429000" cy="1285800"/>
            <a:chOff x="0" y="0"/>
            <a:chExt cx="3429000" cy="12858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b="1" sz="148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Enter Fuel</a:t>
              </a:r>
              <a:endParaRPr b="0" sz="1295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Operator inputs fuel type and required litres.</a:t>
              </a:r>
              <a:endParaRPr b="0" sz="1018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09" name="Google Shape;209;p18"/>
          <p:cNvGrpSpPr/>
          <p:nvPr/>
        </p:nvGrpSpPr>
        <p:grpSpPr>
          <a:xfrm>
            <a:off x="4476750" y="4476750"/>
            <a:ext cx="3429000" cy="1285800"/>
            <a:chOff x="0" y="0"/>
            <a:chExt cx="3429000" cy="12858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  <a:endParaRPr b="1" sz="160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Auto-Debit</a:t>
              </a:r>
              <a:endParaRPr b="0" sz="1400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Instant bank debit via RBI-compliant UPI.</a:t>
              </a:r>
              <a:endParaRPr b="0" sz="11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8191500" y="4476750"/>
            <a:ext cx="3429000" cy="1285800"/>
            <a:chOff x="0" y="0"/>
            <a:chExt cx="3429000" cy="1285800"/>
          </a:xfrm>
        </p:grpSpPr>
        <p:sp>
          <p:nvSpPr>
            <p:cNvPr id="213" name="Google Shape;213;p18"/>
            <p:cNvSpPr/>
            <p:nvPr/>
          </p:nvSpPr>
          <p:spPr>
            <a:xfrm>
              <a:off x="0" y="0"/>
              <a:ext cx="3429000" cy="1285800"/>
            </a:xfrm>
            <a:prstGeom prst="roundRect">
              <a:avLst>
                <a:gd fmla="val 8888" name="adj"/>
              </a:avLst>
            </a:prstGeom>
            <a:solidFill>
              <a:srgbClr val="FFF1F2"/>
            </a:solidFill>
            <a:ln cap="flat" cmpd="sng" w="9525">
              <a:solidFill>
                <a:srgbClr val="FDA4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 txBox="1"/>
            <p:nvPr/>
          </p:nvSpPr>
          <p:spPr>
            <a:xfrm>
              <a:off x="0" y="0"/>
              <a:ext cx="3429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06</a:t>
              </a:r>
              <a:endParaRPr b="1" sz="1480">
                <a:solidFill>
                  <a:srgbClr val="E11D4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11182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Receipt</a:t>
              </a:r>
              <a:endParaRPr b="0" sz="1295">
                <a:solidFill>
                  <a:srgbClr val="11182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018">
                  <a:solidFill>
                    <a:srgbClr val="6B7280"/>
                  </a:solidFill>
                  <a:latin typeface="Poppins"/>
                  <a:ea typeface="Poppins"/>
                  <a:cs typeface="Poppins"/>
                  <a:sym typeface="Poppins"/>
                </a:rPr>
                <a:t>Digital receipt dispatched. Loop done in &lt; 15s.</a:t>
              </a:r>
              <a:endParaRPr b="0" sz="1018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Why We Win?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571500" y="16383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Insight: We don't compete on general payments. We compete on </a:t>
            </a:r>
            <a:r>
              <a:rPr b="1" i="0" lang="en-US" sz="15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"I need to drive out now."</a:t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571500" y="2209800"/>
            <a:ext cx="11049000" cy="350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19"/>
          <p:cNvGraphicFramePr/>
          <p:nvPr/>
        </p:nvGraphicFramePr>
        <p:xfrm>
          <a:off x="5715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{5655D8D3-1BF3-4B50-9305-CF8E948BE8D6}</a:tableStyleId>
              </a:tblPr>
              <a:tblGrid>
                <a:gridCol w="2451500"/>
                <a:gridCol w="2993825"/>
                <a:gridCol w="2756600"/>
                <a:gridCol w="2847075"/>
              </a:tblGrid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Criteria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CASH &amp; CARDS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STANDARD UPI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ZapPay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1D48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Delivery Time (Speed)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2-4 mins (Change/PIN issues)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1-2 mins (Network drops)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Sub 15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risk of shrinkage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verification needed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Automated &amp; vehicle-linked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Hardware Needs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Heavy POS requirements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QR Standee &amp; Soundbox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Zero POS hardware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Predictability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(Queues vary)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(Subject to network)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 (Instant Autopay)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Legacy transactions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B556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Retail payments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11D4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Speed + Habit forming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9"/>
          <p:cNvSpPr/>
          <p:nvPr/>
        </p:nvSpPr>
        <p:spPr>
          <a:xfrm>
            <a:off x="571500" y="2781300"/>
            <a:ext cx="245149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3022996" y="2781300"/>
            <a:ext cx="2993826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016823" y="2781300"/>
            <a:ext cx="2756594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773417" y="2781300"/>
            <a:ext cx="2847082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71500" y="3376612"/>
            <a:ext cx="2451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3022996" y="3376612"/>
            <a:ext cx="29938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016823" y="3376612"/>
            <a:ext cx="275659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8773417" y="3376612"/>
            <a:ext cx="2847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571500" y="3957637"/>
            <a:ext cx="2451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022996" y="3957637"/>
            <a:ext cx="29938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016823" y="3957637"/>
            <a:ext cx="275659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8773417" y="3957637"/>
            <a:ext cx="2847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571500" y="4538662"/>
            <a:ext cx="2451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3022996" y="4538662"/>
            <a:ext cx="29938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6016823" y="4538662"/>
            <a:ext cx="275659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8773417" y="4538662"/>
            <a:ext cx="2847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571500" y="5119687"/>
            <a:ext cx="2451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022996" y="5119687"/>
            <a:ext cx="29938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6016823" y="5119687"/>
            <a:ext cx="275659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8773417" y="5119687"/>
            <a:ext cx="2847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71500" y="5700712"/>
            <a:ext cx="245149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3022996" y="5700712"/>
            <a:ext cx="299382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016823" y="5700712"/>
            <a:ext cx="2756594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8773417" y="5700712"/>
            <a:ext cx="2847082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0"/>
          <p:cNvGrpSpPr/>
          <p:nvPr/>
        </p:nvGrpSpPr>
        <p:grpSpPr>
          <a:xfrm>
            <a:off x="571500" y="2000250"/>
            <a:ext cx="5334000" cy="4381500"/>
            <a:chOff x="0" y="0"/>
            <a:chExt cx="5334000" cy="4381500"/>
          </a:xfrm>
        </p:grpSpPr>
        <p:sp>
          <p:nvSpPr>
            <p:cNvPr id="252" name="Google Shape;252;p20"/>
            <p:cNvSpPr/>
            <p:nvPr/>
          </p:nvSpPr>
          <p:spPr>
            <a:xfrm>
              <a:off x="0" y="0"/>
              <a:ext cx="53340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285750" y="285750"/>
              <a:ext cx="4762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Phase 1: Pilot (Next 3 Months)</a:t>
              </a:r>
              <a:endParaRPr b="1" sz="1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Test in 10-20 pumps in Chhattisgarh and onboard at least 100 dedicated customers in the first month.</a:t>
              </a:r>
              <a:endParaRPr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Phase 2: Expansion (Next 6 Months)</a:t>
              </a:r>
              <a:endParaRPr b="1" sz="1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Replicate success across Tier-2 cities with independent operators, proving the hardware-less model.</a:t>
              </a:r>
              <a:endParaRPr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Phase 3: Rollout (Next 9 Months)</a:t>
              </a:r>
              <a:endParaRPr b="1" sz="18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Launch marketing blitz to target 0.86M litres and ₹4.3L daily revenue at a 0.5% transaction fee.</a:t>
              </a:r>
              <a:endParaRPr sz="11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4" name="Google Shape;254;p20"/>
          <p:cNvGrpSpPr/>
          <p:nvPr/>
        </p:nvGrpSpPr>
        <p:grpSpPr>
          <a:xfrm>
            <a:off x="6286500" y="2000250"/>
            <a:ext cx="5334000" cy="4381500"/>
            <a:chOff x="0" y="0"/>
            <a:chExt cx="5334000" cy="4381500"/>
          </a:xfrm>
        </p:grpSpPr>
        <p:sp>
          <p:nvSpPr>
            <p:cNvPr id="255" name="Google Shape;255;p20"/>
            <p:cNvSpPr/>
            <p:nvPr/>
          </p:nvSpPr>
          <p:spPr>
            <a:xfrm>
              <a:off x="0" y="0"/>
              <a:ext cx="5334000" cy="43815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285750" y="285750"/>
              <a:ext cx="47625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₹4L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40% Pump Expansion Setup</a:t>
              </a:r>
              <a:endParaRPr b="1" sz="13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Onboarding 10-20 prime locations &amp; logistics.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₹4L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40% Operational Cost</a:t>
              </a:r>
              <a:endParaRPr b="1" sz="13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Salaries, field team, and inventory management.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₹1L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10% Registration, legalities, </a:t>
              </a: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onboarding</a:t>
              </a: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. </a:t>
              </a:r>
              <a:endParaRPr b="1" sz="13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Platform scaling and security enhancements.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1D48"/>
                  </a:solidFill>
                  <a:latin typeface="Poppins"/>
                  <a:ea typeface="Poppins"/>
                  <a:cs typeface="Poppins"/>
                  <a:sym typeface="Poppins"/>
                </a:rPr>
                <a:t>₹1L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11827"/>
                  </a:solidFill>
                  <a:latin typeface="Poppins"/>
                  <a:ea typeface="Poppins"/>
                  <a:cs typeface="Poppins"/>
                  <a:sym typeface="Poppins"/>
                </a:rPr>
                <a:t>10% Growth &amp; Marketing</a:t>
              </a:r>
              <a:endParaRPr b="1" sz="13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Customer acquisition and pilot campaigns.</a:t>
              </a:r>
              <a:endPara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57" name="Google Shape;257;p20"/>
          <p:cNvSpPr txBox="1"/>
          <p:nvPr/>
        </p:nvSpPr>
        <p:spPr>
          <a:xfrm>
            <a:off x="7724775" y="7236618"/>
            <a:ext cx="2648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Customer acquisition and pilot campaigns.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₹10 Lakhs Pre-Seed to Scale Pilot Playbook</a:t>
            </a:r>
            <a:endParaRPr b="1" sz="3600">
              <a:solidFill>
                <a:srgbClr val="11182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571500" y="1238250"/>
            <a:ext cx="11049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To build the infrastructure and operational density required to own the instant fuel payment habit across Tier-2 cities pan-India.</a:t>
            </a:r>
            <a:endParaRPr b="0" sz="14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Team ZapPay</a:t>
            </a:r>
            <a:endParaRPr/>
          </a:p>
        </p:txBody>
      </p:sp>
      <p:pic>
        <p:nvPicPr>
          <p:cNvPr descr="image.png" id="265" name="Google Shape;2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838325"/>
            <a:ext cx="37909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838325"/>
            <a:ext cx="37909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2343150" y="5799832"/>
            <a:ext cx="33804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Co-Founder 1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2343150" y="6123682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CEO | Operations &amp; Strategy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2343150" y="6495157"/>
            <a:ext cx="3219450" cy="362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"Early team member at multiple high-growth startups, contributing to their journey from launch to rapid scale and operations management."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629400" y="5799832"/>
            <a:ext cx="33804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Co-Founder 2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629400" y="6123682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CFO | Finance &amp; Compliance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629400" y="6495157"/>
            <a:ext cx="3219450" cy="362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"Chartered Accountant with extensive experience in leading MNCs and independent practice, mastering unit economics and compliance."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8662" y="5959375"/>
            <a:ext cx="31146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1595437" y="279499"/>
            <a:ext cx="9001125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Mission: A Zero-Wait,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Zero-Cash India.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809750" y="2374999"/>
            <a:ext cx="85725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ZapPay is more than a payment solution; it's a vision to fundamentally transform the fuel retail landscape. We will eradicate queues, empower 85,000 dealers with frictionless digital commerce, and create a vehicle-linked payment identity for every driver.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809750" y="4096642"/>
            <a:ext cx="85725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D5DB"/>
                </a:solidFill>
                <a:latin typeface="Inter"/>
                <a:ea typeface="Inter"/>
                <a:cs typeface="Inter"/>
                <a:sym typeface="Inter"/>
              </a:rPr>
              <a:t>Every scan strengthens a nationwide ecosystem where fuel, fleet, and finance converge, paving the way for future innovations like carbon credits and personalized loyalty currencies.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