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.png"/><Relationship Id="rId11" Type="http://schemas.openxmlformats.org/officeDocument/2006/relationships/image" Target="../media/image-7-1.png"/><Relationship Id="rId12" Type="http://schemas.openxmlformats.org/officeDocument/2006/relationships/image" Target="../media/image-7-1.png"/><Relationship Id="rId13" Type="http://schemas.openxmlformats.org/officeDocument/2006/relationships/image" Target="../media/image-7-13.png"/><Relationship Id="rId14" Type="http://schemas.openxmlformats.org/officeDocument/2006/relationships/image" Target="../media/image-7-13.png"/><Relationship Id="rId15" Type="http://schemas.openxmlformats.org/officeDocument/2006/relationships/image" Target="../media/image-7-13.png"/><Relationship Id="rId16" Type="http://schemas.openxmlformats.org/officeDocument/2006/relationships/image" Target="../media/image-7-13.png"/><Relationship Id="rId17" Type="http://schemas.openxmlformats.org/officeDocument/2006/relationships/image" Target="../media/image-7-13.png"/><Relationship Id="rId18" Type="http://schemas.openxmlformats.org/officeDocument/2006/relationships/image" Target="../media/image-7-13.png"/><Relationship Id="rId19" Type="http://schemas.openxmlformats.org/officeDocument/2006/relationships/image" Target="../media/image-7-13.png"/><Relationship Id="rId20" Type="http://schemas.openxmlformats.org/officeDocument/2006/relationships/image" Target="../media/image-7-13.png"/><Relationship Id="rId21" Type="http://schemas.openxmlformats.org/officeDocument/2006/relationships/image" Target="../media/image-7-21.png"/><Relationship Id="rId22" Type="http://schemas.openxmlformats.org/officeDocument/2006/relationships/image" Target="../media/image-7-21.png"/><Relationship Id="rId23" Type="http://schemas.openxmlformats.org/officeDocument/2006/relationships/image" Target="../media/image-7-21.png"/><Relationship Id="rId24" Type="http://schemas.openxmlformats.org/officeDocument/2006/relationships/image" Target="../media/image-7-21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411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ZapPay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9052560" y="41148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411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PITCH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607040" y="411480"/>
            <a:ext cx="112471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607040" y="41148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8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</a:t>
            </a:r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Payments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502920" y="49834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India's Petrol Pumps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7802575" y="5532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cash queues and fraud at India's fuel</a:t>
            </a:r>
            <a:endParaRPr lang="en-US" sz="12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— one QR scan at a time.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8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ZapPay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rd-photo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3576218" cy="2331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6324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Inefficiency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wait while staff handle cash and make change, causing queues that spill onto roads.</a:t>
            </a:r>
            <a:endParaRPr lang="en-US" sz="1200" dirty="0"/>
          </a:p>
        </p:txBody>
      </p:sp>
      <p:pic>
        <p:nvPicPr>
          <p:cNvPr id="5" name="Image 1" descr="assets/card-photo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38" y="548640"/>
            <a:ext cx="3576218" cy="2331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07738" y="306324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07738" y="347472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 and pilferage erode the 3-5% dealer margin, threatening profitability.</a:t>
            </a:r>
            <a:endParaRPr lang="en-US" sz="1200" dirty="0"/>
          </a:p>
        </p:txBody>
      </p:sp>
      <p:pic>
        <p:nvPicPr>
          <p:cNvPr id="8" name="Image 2" descr="assets/card-photo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277" y="548640"/>
            <a:ext cx="3576218" cy="2331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58277" y="306324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Gap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158277" y="347472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pumps selling 8,000-20,000 litres daily lack swift digital rails, and UPI/QR payments are often blocked by poor internet connections.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57200" y="5742432"/>
            <a:ext cx="11277295" cy="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57200" y="59253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 Retail Pain Points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6613855" y="598017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India's fuel retail, cash is still king — and it's costing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and drivers time, money, and trust.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3680460" cy="2080260"/>
          </a:xfrm>
          <a:prstGeom prst="rect">
            <a:avLst/>
          </a:prstGeom>
          <a:solidFill>
            <a:srgbClr val="F2EFFA"/>
          </a:solidFill>
          <a:ln w="9525">
            <a:solidFill>
              <a:srgbClr val="E3D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3040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Zero-Wait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527048"/>
            <a:ext cx="30403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convenience for a seamless drive-in and drive-out journey.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37660" y="777240"/>
            <a:ext cx="3680460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57700" y="1051560"/>
            <a:ext cx="3040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57700" y="1527048"/>
            <a:ext cx="30403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Vehicle-linked tracking and digital receipts for complete transparency and trust.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57500"/>
            <a:ext cx="3680460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31820"/>
            <a:ext cx="3040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Pilot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07308"/>
            <a:ext cx="30403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a pilot across 10-20 pumps.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37660" y="2857500"/>
            <a:ext cx="3680460" cy="2080260"/>
          </a:xfrm>
          <a:prstGeom prst="rect">
            <a:avLst/>
          </a:prstGeom>
          <a:solidFill>
            <a:srgbClr val="F2EFFA"/>
          </a:solidFill>
          <a:ln w="9525">
            <a:solidFill>
              <a:srgbClr val="E3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7700" y="3131820"/>
            <a:ext cx="3040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7700" y="3607308"/>
            <a:ext cx="30403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digitize 85,000+ outlets nationwide.</a:t>
            </a:r>
            <a:endParaRPr lang="en-US" sz="1200" dirty="0"/>
          </a:p>
        </p:txBody>
      </p:sp>
      <p:pic>
        <p:nvPicPr>
          <p:cNvPr id="14" name="Image 0" descr="assets/panel-violet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777240"/>
            <a:ext cx="3642055" cy="41605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364828" y="19888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assets/icon-qrcode-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860" y="2244852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75320" y="3977640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Forecourt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5742432"/>
            <a:ext cx="11277295" cy="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59253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ZapPay: Built for the Pump</a:t>
            </a:r>
            <a:endParaRPr lang="en-US" sz="2500" dirty="0"/>
          </a:p>
        </p:txBody>
      </p:sp>
      <p:sp>
        <p:nvSpPr>
          <p:cNvPr id="20" name="Text 16"/>
          <p:cNvSpPr/>
          <p:nvPr/>
        </p:nvSpPr>
        <p:spPr>
          <a:xfrm>
            <a:off x="6613855" y="598017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QR payments at petrol pumps — eliminating cash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hassles, queues, and fraud.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6-Step Autopay Journey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396975" y="2720340"/>
            <a:ext cx="9397746" cy="0"/>
          </a:xfrm>
          <a:prstGeom prst="line">
            <a:avLst/>
          </a:prstGeom>
          <a:noFill/>
          <a:ln w="25400">
            <a:solidFill>
              <a:srgbClr val="E3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8355" y="2331720"/>
            <a:ext cx="777240" cy="777240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5" name="Text 3"/>
          <p:cNvSpPr/>
          <p:nvPr/>
        </p:nvSpPr>
        <p:spPr>
          <a:xfrm>
            <a:off x="1008355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310128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675888"/>
            <a:ext cx="17881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7904" y="2331720"/>
            <a:ext cx="777240" cy="777240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9" name="Text 7"/>
          <p:cNvSpPr/>
          <p:nvPr/>
        </p:nvSpPr>
        <p:spPr>
          <a:xfrm>
            <a:off x="2887904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82469" y="3310128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QR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82469" y="3675888"/>
            <a:ext cx="17881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sticker issued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67453" y="2331720"/>
            <a:ext cx="777240" cy="777240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767453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62018" y="3310128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62018" y="3675888"/>
            <a:ext cx="17881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scans QR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47002" y="2331720"/>
            <a:ext cx="777240" cy="777240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17" name="Text 15"/>
          <p:cNvSpPr/>
          <p:nvPr/>
        </p:nvSpPr>
        <p:spPr>
          <a:xfrm>
            <a:off x="6647002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41568" y="3310128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Fuel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1568" y="3675888"/>
            <a:ext cx="17881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type &amp; litres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26551" y="2331720"/>
            <a:ext cx="777240" cy="777240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21" name="Text 19"/>
          <p:cNvSpPr/>
          <p:nvPr/>
        </p:nvSpPr>
        <p:spPr>
          <a:xfrm>
            <a:off x="8526551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21117" y="3310128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Auto-Debit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21117" y="3675888"/>
            <a:ext cx="17881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bank debit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406101" y="2331720"/>
            <a:ext cx="777240" cy="777240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25" name="Text 23"/>
          <p:cNvSpPr/>
          <p:nvPr/>
        </p:nvSpPr>
        <p:spPr>
          <a:xfrm>
            <a:off x="10406101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900666" y="3310128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00666" y="3675888"/>
            <a:ext cx="17881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sent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77295" cy="1234440"/>
          </a:xfrm>
          <a:prstGeom prst="rect">
            <a:avLst/>
          </a:prstGeom>
          <a:solidFill>
            <a:srgbClr val="E3F7E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92040"/>
            <a:ext cx="10545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15 Seconds  </a:t>
            </a:r>
            <a:pPr algn="ctr" indent="0" marL="0">
              <a:buNone/>
            </a:pPr>
            <a:r>
              <a:rPr lang="en-US" sz="1350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— no POS hardware, zero cash touch, fully RBI-compliant UPI rails.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From Pilot to National Rollout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770850" y="1609344"/>
            <a:ext cx="8649995" cy="0"/>
          </a:xfrm>
          <a:prstGeom prst="line">
            <a:avLst/>
          </a:prstGeom>
          <a:noFill/>
          <a:ln w="25400">
            <a:solidFill>
              <a:srgbClr val="E3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70266" y="1508760"/>
            <a:ext cx="201168" cy="201168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74520"/>
            <a:ext cx="2627300" cy="3657600"/>
          </a:xfrm>
          <a:prstGeom prst="rect">
            <a:avLst/>
          </a:prstGeom>
          <a:solidFill>
            <a:srgbClr val="F2EFF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031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40487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926080"/>
            <a:ext cx="22249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10-20 pumps in Chhattisgarh and onboard at least 100 customers in month 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53598" y="1508760"/>
            <a:ext cx="201168" cy="201168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10" name="Shape 8"/>
          <p:cNvSpPr/>
          <p:nvPr/>
        </p:nvSpPr>
        <p:spPr>
          <a:xfrm>
            <a:off x="3340532" y="1874520"/>
            <a:ext cx="2627300" cy="3657600"/>
          </a:xfrm>
          <a:prstGeom prst="rect">
            <a:avLst/>
          </a:prstGeom>
          <a:solidFill>
            <a:srgbClr val="F2EFFA"/>
          </a:solidFill>
          <a:ln/>
        </p:spPr>
      </p:sp>
      <p:sp>
        <p:nvSpPr>
          <p:cNvPr id="11" name="Text 9"/>
          <p:cNvSpPr/>
          <p:nvPr/>
        </p:nvSpPr>
        <p:spPr>
          <a:xfrm>
            <a:off x="3541700" y="21031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41700" y="240487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1700" y="2926080"/>
            <a:ext cx="22249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success across Tier-2 cities with independent operators.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36930" y="1508760"/>
            <a:ext cx="201168" cy="201168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3864" y="1874520"/>
            <a:ext cx="2627300" cy="3657600"/>
          </a:xfrm>
          <a:prstGeom prst="rect">
            <a:avLst/>
          </a:prstGeom>
          <a:solidFill>
            <a:srgbClr val="F2EF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25032" y="21031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25032" y="240487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Blitz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5032" y="2926080"/>
            <a:ext cx="22249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marketing campaigns and tie up with companies to accelerate adoption.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20261" y="1508760"/>
            <a:ext cx="201168" cy="201168"/>
          </a:xfrm>
          <a:prstGeom prst="ellipse">
            <a:avLst/>
          </a:prstGeom>
          <a:solidFill>
            <a:srgbClr val="C2227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07195" y="1874520"/>
            <a:ext cx="2627300" cy="3657600"/>
          </a:xfrm>
          <a:prstGeom prst="rect">
            <a:avLst/>
          </a:prstGeom>
          <a:solidFill>
            <a:srgbClr val="FBE4F0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363" y="2103120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22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08363" y="240487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08363" y="2926080"/>
            <a:ext cx="22249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0.86M litres and ₹4.3L daily revenue at a 0.5% transaction fee.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Micro-Economics of a Single Pump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62495" y="4389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daily economics for an average urban petrol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and ZapPay's value proposition.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18608" cy="2606040"/>
          </a:xfrm>
          <a:prstGeom prst="rect">
            <a:avLst/>
          </a:prstGeom>
          <a:solidFill>
            <a:srgbClr val="F2EF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(AVG. URBAN PUMP)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8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Volume:  </a:t>
            </a:r>
            <a:pPr algn="l" indent="0" marL="0">
              <a:buNone/>
            </a:pPr>
            <a:r>
              <a:rPr lang="en-US" sz="14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Profit:  </a:t>
            </a:r>
            <a:pPr algn="l" indent="0" marL="0">
              <a:buNone/>
            </a:pPr>
            <a:r>
              <a:rPr lang="en-US" sz="22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₹40,800</a:t>
            </a:r>
            <a:endParaRPr lang="en-US" sz="1400" dirty="0"/>
          </a:p>
        </p:txBody>
      </p:sp>
      <p:pic>
        <p:nvPicPr>
          <p:cNvPr id="8" name="Image 0" descr="assets/icon-arrow-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258318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15888" y="1508760"/>
            <a:ext cx="5318608" cy="2606040"/>
          </a:xfrm>
          <a:prstGeom prst="rect">
            <a:avLst/>
          </a:prstGeom>
          <a:solidFill>
            <a:srgbClr val="E3F7EF"/>
          </a:solidFill>
          <a:ln/>
        </p:spPr>
      </p:sp>
      <p:sp>
        <p:nvSpPr>
          <p:cNvPr id="10" name="Text 7"/>
          <p:cNvSpPr/>
          <p:nvPr/>
        </p:nvSpPr>
        <p:spPr>
          <a:xfrm>
            <a:off x="6781648" y="178308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E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ZAPPAY (TARGET)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81648" y="224028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Volume:  </a:t>
            </a:r>
            <a:pPr algn="l" indent="0" marL="0">
              <a:buNone/>
            </a:pPr>
            <a:r>
              <a:rPr lang="en-US" sz="13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L (20%)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81648" y="260604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Value:  </a:t>
            </a:r>
            <a:pPr algn="l" indent="0" marL="0">
              <a:buNone/>
            </a:pPr>
            <a:r>
              <a:rPr lang="en-US" sz="13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 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81648" y="3017520"/>
            <a:ext cx="458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ZapPay Revenue:  </a:t>
            </a:r>
            <a:pPr algn="l" indent="0" marL="0">
              <a:buNone/>
            </a:pPr>
            <a:r>
              <a:rPr lang="en-US" sz="1900" b="1" dirty="0">
                <a:solidFill>
                  <a:srgbClr val="0E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 (0.5%)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4526280"/>
            <a:ext cx="11277295" cy="1234440"/>
          </a:xfrm>
          <a:prstGeom prst="rect">
            <a:avLst/>
          </a:prstGeom>
          <a:solidFill>
            <a:srgbClr val="3D2A6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526280"/>
            <a:ext cx="10545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₹4.4L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per pump</a:t>
            </a:r>
            <a:pPr algn="ctr" indent="0" marL="0">
              <a:buNone/>
            </a:pPr>
            <a:r>
              <a:rPr lang="en-US" sz="1250" dirty="0">
                <a:solidFill>
                  <a:srgbClr val="D8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revenue compounding as loyalty rises and cash handling costs disappear.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on-gaspump-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310896" cy="310896"/>
          </a:xfrm>
          <a:prstGeom prst="rect">
            <a:avLst/>
          </a:prstGeom>
        </p:spPr>
      </p:pic>
      <p:pic>
        <p:nvPicPr>
          <p:cNvPr id="3" name="Image 1" descr="assets/icon-gaspump-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77240"/>
            <a:ext cx="310896" cy="310896"/>
          </a:xfrm>
          <a:prstGeom prst="rect">
            <a:avLst/>
          </a:prstGeom>
        </p:spPr>
      </p:pic>
      <p:pic>
        <p:nvPicPr>
          <p:cNvPr id="4" name="Image 2" descr="assets/icon-gaspump-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777240"/>
            <a:ext cx="310896" cy="310896"/>
          </a:xfrm>
          <a:prstGeom prst="rect">
            <a:avLst/>
          </a:prstGeom>
        </p:spPr>
      </p:pic>
      <p:pic>
        <p:nvPicPr>
          <p:cNvPr id="5" name="Image 3" descr="assets/icon-gaspump-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777240"/>
            <a:ext cx="310896" cy="310896"/>
          </a:xfrm>
          <a:prstGeom prst="rect">
            <a:avLst/>
          </a:prstGeom>
        </p:spPr>
      </p:pic>
      <p:pic>
        <p:nvPicPr>
          <p:cNvPr id="6" name="Image 4" descr="assets/icon-gaspump-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7864"/>
            <a:ext cx="310896" cy="310896"/>
          </a:xfrm>
          <a:prstGeom prst="rect">
            <a:avLst/>
          </a:prstGeom>
        </p:spPr>
      </p:pic>
      <p:pic>
        <p:nvPicPr>
          <p:cNvPr id="7" name="Image 5" descr="assets/icon-gaspump-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1197864"/>
            <a:ext cx="310896" cy="310896"/>
          </a:xfrm>
          <a:prstGeom prst="rect">
            <a:avLst/>
          </a:prstGeom>
        </p:spPr>
      </p:pic>
      <p:pic>
        <p:nvPicPr>
          <p:cNvPr id="8" name="Image 6" descr="assets/icon-gaspump-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448" y="1197864"/>
            <a:ext cx="310896" cy="310896"/>
          </a:xfrm>
          <a:prstGeom prst="rect">
            <a:avLst/>
          </a:prstGeom>
        </p:spPr>
      </p:pic>
      <p:pic>
        <p:nvPicPr>
          <p:cNvPr id="9" name="Image 7" descr="assets/icon-gaspump-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1197864"/>
            <a:ext cx="310896" cy="310896"/>
          </a:xfrm>
          <a:prstGeom prst="rect">
            <a:avLst/>
          </a:prstGeom>
        </p:spPr>
      </p:pic>
      <p:pic>
        <p:nvPicPr>
          <p:cNvPr id="10" name="Image 8" descr="assets/icon-gaspump-v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618488"/>
            <a:ext cx="310896" cy="310896"/>
          </a:xfrm>
          <a:prstGeom prst="rect">
            <a:avLst/>
          </a:prstGeom>
        </p:spPr>
      </p:pic>
      <p:pic>
        <p:nvPicPr>
          <p:cNvPr id="11" name="Image 9" descr="assets/icon-gaspump-v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" y="1618488"/>
            <a:ext cx="310896" cy="310896"/>
          </a:xfrm>
          <a:prstGeom prst="rect">
            <a:avLst/>
          </a:prstGeom>
        </p:spPr>
      </p:pic>
      <p:pic>
        <p:nvPicPr>
          <p:cNvPr id="12" name="Image 10" descr="assets/icon-gaspump-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8448" y="1618488"/>
            <a:ext cx="310896" cy="310896"/>
          </a:xfrm>
          <a:prstGeom prst="rect">
            <a:avLst/>
          </a:prstGeom>
        </p:spPr>
      </p:pic>
      <p:pic>
        <p:nvPicPr>
          <p:cNvPr id="13" name="Image 11" descr="assets/icon-gaspump-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9072" y="1618488"/>
            <a:ext cx="310896" cy="310896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57200" y="2359152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55,000</a:t>
            </a:r>
            <a:endParaRPr lang="en-US" sz="2600" dirty="0"/>
          </a:p>
        </p:txBody>
      </p:sp>
      <p:sp>
        <p:nvSpPr>
          <p:cNvPr id="15" name="Text 1"/>
          <p:cNvSpPr/>
          <p:nvPr/>
        </p:nvSpPr>
        <p:spPr>
          <a:xfrm>
            <a:off x="457200" y="2862072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Pumps Nationwide</a:t>
            </a:r>
            <a:endParaRPr lang="en-US" sz="1350" dirty="0"/>
          </a:p>
        </p:txBody>
      </p:sp>
      <p:sp>
        <p:nvSpPr>
          <p:cNvPr id="16" name="Text 2"/>
          <p:cNvSpPr/>
          <p:nvPr/>
        </p:nvSpPr>
        <p:spPr>
          <a:xfrm>
            <a:off x="457200" y="32004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in urban areas</a:t>
            </a:r>
            <a:endParaRPr lang="en-US" sz="1150" dirty="0"/>
          </a:p>
        </p:txBody>
      </p:sp>
      <p:pic>
        <p:nvPicPr>
          <p:cNvPr id="17" name="Image 12" descr="assets/icon-gaspump-min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68698" y="777240"/>
            <a:ext cx="310896" cy="310896"/>
          </a:xfrm>
          <a:prstGeom prst="rect">
            <a:avLst/>
          </a:prstGeom>
        </p:spPr>
      </p:pic>
      <p:pic>
        <p:nvPicPr>
          <p:cNvPr id="18" name="Image 13" descr="assets/icon-gaspump-min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89322" y="777240"/>
            <a:ext cx="310896" cy="310896"/>
          </a:xfrm>
          <a:prstGeom prst="rect">
            <a:avLst/>
          </a:prstGeom>
        </p:spPr>
      </p:pic>
      <p:pic>
        <p:nvPicPr>
          <p:cNvPr id="19" name="Image 14" descr="assets/icon-gaspump-min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9946" y="777240"/>
            <a:ext cx="310896" cy="310896"/>
          </a:xfrm>
          <a:prstGeom prst="rect">
            <a:avLst/>
          </a:prstGeom>
        </p:spPr>
      </p:pic>
      <p:pic>
        <p:nvPicPr>
          <p:cNvPr id="20" name="Image 15" descr="assets/icon-gaspump-min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0570" y="777240"/>
            <a:ext cx="310896" cy="310896"/>
          </a:xfrm>
          <a:prstGeom prst="rect">
            <a:avLst/>
          </a:prstGeom>
        </p:spPr>
      </p:pic>
      <p:pic>
        <p:nvPicPr>
          <p:cNvPr id="21" name="Image 16" descr="assets/icon-gaspump-min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68698" y="1197864"/>
            <a:ext cx="310896" cy="310896"/>
          </a:xfrm>
          <a:prstGeom prst="rect">
            <a:avLst/>
          </a:prstGeom>
        </p:spPr>
      </p:pic>
      <p:pic>
        <p:nvPicPr>
          <p:cNvPr id="22" name="Image 17" descr="assets/icon-gaspump-min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89322" y="1197864"/>
            <a:ext cx="310896" cy="310896"/>
          </a:xfrm>
          <a:prstGeom prst="rect">
            <a:avLst/>
          </a:prstGeom>
        </p:spPr>
      </p:pic>
      <p:pic>
        <p:nvPicPr>
          <p:cNvPr id="23" name="Image 18" descr="assets/icon-gaspump-min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9946" y="1197864"/>
            <a:ext cx="310896" cy="310896"/>
          </a:xfrm>
          <a:prstGeom prst="rect">
            <a:avLst/>
          </a:prstGeom>
        </p:spPr>
      </p:pic>
      <p:pic>
        <p:nvPicPr>
          <p:cNvPr id="24" name="Image 19" descr="assets/icon-gaspump-min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30570" y="1197864"/>
            <a:ext cx="310896" cy="310896"/>
          </a:xfrm>
          <a:prstGeom prst="rect">
            <a:avLst/>
          </a:prstGeom>
        </p:spPr>
      </p:pic>
      <p:sp>
        <p:nvSpPr>
          <p:cNvPr id="25" name="Text 3"/>
          <p:cNvSpPr/>
          <p:nvPr/>
        </p:nvSpPr>
        <p:spPr>
          <a:xfrm>
            <a:off x="4368698" y="1938528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8.5M Litres</a:t>
            </a:r>
            <a:endParaRPr lang="en-US" sz="2600" dirty="0"/>
          </a:p>
        </p:txBody>
      </p:sp>
      <p:sp>
        <p:nvSpPr>
          <p:cNvPr id="26" name="Text 4"/>
          <p:cNvSpPr/>
          <p:nvPr/>
        </p:nvSpPr>
        <p:spPr>
          <a:xfrm>
            <a:off x="4368698" y="2441448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Cashless Opportunity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4368698" y="2779776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profit pool ₹87.5L–₹2.2Cr / day</a:t>
            </a:r>
            <a:endParaRPr lang="en-US" sz="1150" dirty="0"/>
          </a:p>
        </p:txBody>
      </p:sp>
      <p:pic>
        <p:nvPicPr>
          <p:cNvPr id="28" name="Image 20" descr="assets/icon-gaspump-mag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0197" y="777240"/>
            <a:ext cx="310896" cy="310896"/>
          </a:xfrm>
          <a:prstGeom prst="rect">
            <a:avLst/>
          </a:prstGeom>
        </p:spPr>
      </p:pic>
      <p:pic>
        <p:nvPicPr>
          <p:cNvPr id="29" name="Image 21" descr="assets/icon-gaspump-mag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00821" y="777240"/>
            <a:ext cx="310896" cy="310896"/>
          </a:xfrm>
          <a:prstGeom prst="rect">
            <a:avLst/>
          </a:prstGeom>
        </p:spPr>
      </p:pic>
      <p:pic>
        <p:nvPicPr>
          <p:cNvPr id="30" name="Image 22" descr="assets/icon-gaspump-mag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21445" y="777240"/>
            <a:ext cx="310896" cy="310896"/>
          </a:xfrm>
          <a:prstGeom prst="rect">
            <a:avLst/>
          </a:prstGeom>
        </p:spPr>
      </p:pic>
      <p:pic>
        <p:nvPicPr>
          <p:cNvPr id="31" name="Image 23" descr="assets/icon-gaspump-mag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42069" y="777240"/>
            <a:ext cx="310896" cy="310896"/>
          </a:xfrm>
          <a:prstGeom prst="rect">
            <a:avLst/>
          </a:prstGeom>
        </p:spPr>
      </p:pic>
      <p:sp>
        <p:nvSpPr>
          <p:cNvPr id="32" name="Text 6"/>
          <p:cNvSpPr/>
          <p:nvPr/>
        </p:nvSpPr>
        <p:spPr>
          <a:xfrm>
            <a:off x="8280197" y="1517904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22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0.86M Litres</a:t>
            </a:r>
            <a:endParaRPr lang="en-US" sz="2600" dirty="0"/>
          </a:p>
        </p:txBody>
      </p:sp>
      <p:sp>
        <p:nvSpPr>
          <p:cNvPr id="33" name="Text 7"/>
          <p:cNvSpPr/>
          <p:nvPr/>
        </p:nvSpPr>
        <p:spPr>
          <a:xfrm>
            <a:off x="8280197" y="2020824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ZapPay's Target Volume</a:t>
            </a:r>
            <a:endParaRPr lang="en-US" sz="1350" dirty="0"/>
          </a:p>
        </p:txBody>
      </p:sp>
      <p:sp>
        <p:nvSpPr>
          <p:cNvPr id="34" name="Text 8"/>
          <p:cNvSpPr/>
          <p:nvPr/>
        </p:nvSpPr>
        <p:spPr>
          <a:xfrm>
            <a:off x="8280197" y="2359152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₹4.3L daily revenue at a 0.5% fee</a:t>
            </a:r>
            <a:endParaRPr lang="en-US" sz="1150" dirty="0"/>
          </a:p>
        </p:txBody>
      </p:sp>
      <p:sp>
        <p:nvSpPr>
          <p:cNvPr id="35" name="Shape 9"/>
          <p:cNvSpPr/>
          <p:nvPr/>
        </p:nvSpPr>
        <p:spPr>
          <a:xfrm>
            <a:off x="457200" y="5742432"/>
            <a:ext cx="11277295" cy="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36" name="Text 10"/>
          <p:cNvSpPr/>
          <p:nvPr/>
        </p:nvSpPr>
        <p:spPr>
          <a:xfrm>
            <a:off x="457200" y="59253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Fuel Retail Market</a:t>
            </a:r>
            <a:endParaRPr lang="en-US" sz="2500" dirty="0"/>
          </a:p>
        </p:txBody>
      </p:sp>
      <p:sp>
        <p:nvSpPr>
          <p:cNvPr id="37" name="Text 11"/>
          <p:cNvSpPr/>
          <p:nvPr/>
        </p:nvSpPr>
        <p:spPr>
          <a:xfrm>
            <a:off x="6613855" y="598017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just 10% of the market's cashless volume unlocks</a:t>
            </a:r>
            <a:endParaRPr lang="en-US" sz="1250" dirty="0"/>
          </a:p>
          <a:p>
            <a:pPr algn="r"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revenue potential for ZapPay.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 Pre-Seed to Scale ZapPay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62495" y="4389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the infrastructure and operational density required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digitize India's fuel retail, starting with our pilot region.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solidFill>
            <a:srgbClr val="2011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₹1L  </a:t>
            </a:r>
            <a:pPr algn="l" indent="0" marL="0">
              <a:buNone/>
            </a:pPr>
            <a:r>
              <a:rPr lang="en-US" sz="1500" b="1" dirty="0">
                <a:solidFill>
                  <a:srgbClr val="C22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8439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Legal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184397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 Ltd incorporation, RBI/NPCI compliance consulting, dealer contracts.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12659" y="2103120"/>
            <a:ext cx="0" cy="384048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1259" y="21031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₹4L  </a:t>
            </a:r>
            <a:pPr algn="l" indent="0" marL="0">
              <a:buNone/>
            </a:pPr>
            <a:r>
              <a:rPr lang="en-US" sz="1500" b="1" dirty="0">
                <a:solidFill>
                  <a:srgbClr val="C22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41259" y="2697480"/>
            <a:ext cx="18439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Equipment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41259" y="3474720"/>
            <a:ext cx="184397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hardware for 15-20 pumps, backend server setup, payment gateway integration.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8118" y="2103120"/>
            <a:ext cx="0" cy="384048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6718" y="21031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  </a:t>
            </a:r>
            <a:pPr algn="l" indent="0" marL="0">
              <a:buNone/>
            </a:pPr>
            <a:r>
              <a:rPr lang="en-US" sz="1500" b="1" dirty="0">
                <a:solidFill>
                  <a:srgbClr val="C22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96718" y="2697480"/>
            <a:ext cx="18439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Pilot Launch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96718" y="3474720"/>
            <a:ext cx="184397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On-ground promotions, dealer onboarding incentives, customer acquisition for 100+ customers.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577" y="2103120"/>
            <a:ext cx="0" cy="384048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177" y="21031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  </a:t>
            </a:r>
            <a:pPr algn="l" indent="0" marL="0">
              <a:buNone/>
            </a:pPr>
            <a:r>
              <a:rPr lang="en-US" sz="1500" b="1" dirty="0">
                <a:solidFill>
                  <a:srgbClr val="C22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52177" y="2697480"/>
            <a:ext cx="18439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Team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52177" y="3474720"/>
            <a:ext cx="184397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and day-to-day operating costs during the pilot.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79036" y="2103120"/>
            <a:ext cx="0" cy="384048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7636" y="21031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₹1L  </a:t>
            </a:r>
            <a:pPr algn="l" indent="0" marL="0">
              <a:buNone/>
            </a:pPr>
            <a:r>
              <a:rPr lang="en-US" sz="1500" b="1" dirty="0">
                <a:solidFill>
                  <a:srgbClr val="C22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707636" y="2697480"/>
            <a:ext cx="18439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Maintenance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Contingency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707636" y="3474720"/>
            <a:ext cx="184397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maintenance, bug fixes, and buffer for unexpected costs.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Pilot to Scale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62495" y="4389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path from a 10-pump pilot to a scalable, nationwide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fuel payments network.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576218" cy="1920240"/>
          </a:xfrm>
          <a:prstGeom prst="rect">
            <a:avLst/>
          </a:prstGeom>
          <a:solidFill>
            <a:srgbClr val="F2EF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21992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79192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pumps live in Chhattisgarh; 100+ customers onboarded.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MONTHS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965960"/>
            <a:ext cx="357621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2058" y="2221992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Expansion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82058" y="2679192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pump operators onboarded across Tier-2 cities.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82058" y="34290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 MONTHS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8277" y="1965960"/>
            <a:ext cx="3576218" cy="1920240"/>
          </a:xfrm>
          <a:prstGeom prst="rect">
            <a:avLst/>
          </a:prstGeom>
          <a:solidFill>
            <a:srgbClr val="FCEFC7"/>
          </a:solidFill>
          <a:ln/>
        </p:spPr>
      </p:sp>
      <p:sp>
        <p:nvSpPr>
          <p:cNvPr id="13" name="Text 11"/>
          <p:cNvSpPr/>
          <p:nvPr/>
        </p:nvSpPr>
        <p:spPr>
          <a:xfrm>
            <a:off x="8432597" y="2221992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32597" y="2679192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toward 0.86M litres daily volume nationwide.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32597" y="34290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8-12 MONTHS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11277295" cy="0"/>
          </a:xfrm>
          <a:prstGeom prst="line">
            <a:avLst/>
          </a:prstGeom>
          <a:noFill/>
          <a:ln w="19050">
            <a:solidFill>
              <a:srgbClr val="E3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" y="4347972"/>
            <a:ext cx="82296" cy="82296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18" name="Text 16"/>
          <p:cNvSpPr/>
          <p:nvPr/>
        </p:nvSpPr>
        <p:spPr>
          <a:xfrm>
            <a:off x="-914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35376" y="4347972"/>
            <a:ext cx="82296" cy="82296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20" name="Text 18"/>
          <p:cNvSpPr/>
          <p:nvPr/>
        </p:nvSpPr>
        <p:spPr>
          <a:xfrm>
            <a:off x="2727884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4700" y="4347972"/>
            <a:ext cx="82296" cy="82296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22" name="Text 20"/>
          <p:cNvSpPr/>
          <p:nvPr/>
        </p:nvSpPr>
        <p:spPr>
          <a:xfrm>
            <a:off x="5547208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74023" y="4347972"/>
            <a:ext cx="82296" cy="82296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531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693347" y="4347972"/>
            <a:ext cx="82296" cy="82296"/>
          </a:xfrm>
          <a:prstGeom prst="ellipse">
            <a:avLst/>
          </a:prstGeom>
          <a:solidFill>
            <a:srgbClr val="3D2A6B"/>
          </a:solidFill>
          <a:ln/>
        </p:spPr>
      </p:sp>
      <p:sp>
        <p:nvSpPr>
          <p:cNvPr id="26" name="Text 24"/>
          <p:cNvSpPr/>
          <p:nvPr/>
        </p:nvSpPr>
        <p:spPr>
          <a:xfrm>
            <a:off x="11185855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1463040"/>
            <a:ext cx="5669280" cy="5669280"/>
          </a:xfrm>
          <a:prstGeom prst="ellipse">
            <a:avLst/>
          </a:prstGeom>
          <a:solidFill>
            <a:srgbClr val="FBE4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A Zero-Wait,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Zero-Cash India.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ZapPay is more than a payment solution; it's a vision to fundamentally transform the fuel retail landscape. We will eradicate queues, empower 85,000 dealers with frictionless digital commerce, and create a vehicle-linked payment identity for every driver.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strengthens a nationwide ecosystem where fuel, fleet, and finance converge, paving the way for future innovations like carbon credits and personalized loyalty currencies.</a:t>
            </a:r>
            <a:endParaRPr lang="en-US" sz="1350" dirty="0"/>
          </a:p>
        </p:txBody>
      </p:sp>
      <p:pic>
        <p:nvPicPr>
          <p:cNvPr id="5" name="Image 0" descr="assets/panel-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685800"/>
            <a:ext cx="4828032" cy="5440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4297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85,000+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178040" y="4892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empowered, nationwide.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84248" y="777240"/>
            <a:ext cx="82296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1A4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596128" y="1280160"/>
            <a:ext cx="1005840" cy="1005840"/>
          </a:xfrm>
          <a:prstGeom prst="ellipse">
            <a:avLst/>
          </a:prstGeom>
          <a:solidFill>
            <a:srgbClr val="3D2A6B"/>
          </a:solidFill>
          <a:ln/>
        </p:spPr>
      </p:sp>
      <p:pic>
        <p:nvPicPr>
          <p:cNvPr id="4" name="Image 0" descr="assets/icon-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49047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32888" y="25603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India's Digital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Future Together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15768" y="36118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 We'd love to have you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 as we redefine how India pays at the pump.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55848" y="4663440"/>
            <a:ext cx="5486400" cy="0"/>
          </a:xfrm>
          <a:prstGeom prst="line">
            <a:avLst/>
          </a:prstGeom>
          <a:noFill/>
          <a:ln w="12700">
            <a:solidFill>
              <a:srgbClr val="E3DE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84648" y="49377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2EFFA"/>
          </a:solidFill>
          <a:ln/>
        </p:spPr>
      </p:sp>
      <p:sp>
        <p:nvSpPr>
          <p:cNvPr id="9" name="Text 6"/>
          <p:cNvSpPr/>
          <p:nvPr/>
        </p:nvSpPr>
        <p:spPr>
          <a:xfrm>
            <a:off x="5184648" y="4937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ZapPay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32888" y="5577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how India pays at the pump.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ZapPay Pre-Seed Pitch Deck</dc:title>
  <dc:subject>PptxGenJS Presentation</dc:subject>
  <dc:creator>Team ZapPay</dc:creator>
  <cp:lastModifiedBy>Team ZapPay</cp:lastModifiedBy>
  <cp:revision>1</cp:revision>
  <dcterms:created xsi:type="dcterms:W3CDTF">2026-06-22T07:05:17Z</dcterms:created>
  <dcterms:modified xsi:type="dcterms:W3CDTF">2026-06-22T07:05:17Z</dcterms:modified>
</cp:coreProperties>
</file>