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3"/>
    </p:embeddedFont>
    <p:embeddedFont>
      <p:font typeface="Arimo" charset="1" panose="020B0604020202020204"/>
      <p:regular r:id="rId24"/>
    </p:embeddedFont>
    <p:embeddedFont>
      <p:font typeface="Noto Sans Bold" charset="1" panose="020B080204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10313670"/>
            <a:chOff x="0" y="0"/>
            <a:chExt cx="24375110" cy="13751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13751561"/>
            </a:xfrm>
            <a:custGeom>
              <a:avLst/>
              <a:gdLst/>
              <a:ahLst/>
              <a:cxnLst/>
              <a:rect r="r" b="b" t="t" l="l"/>
              <a:pathLst>
                <a:path h="13751561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13751561"/>
                  </a:lnTo>
                  <a:lnTo>
                    <a:pt x="0" y="13751561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4434192"/>
            </a:gra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81125" y="2761298"/>
            <a:ext cx="10064115" cy="329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64"/>
              </a:lnSpc>
            </a:pPr>
            <a:r>
              <a:rPr lang="en-US" sz="8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ZapPay: Fueling India’s Digital Drive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11605" y="7131368"/>
            <a:ext cx="3086100" cy="777240"/>
            <a:chOff x="0" y="0"/>
            <a:chExt cx="4114800" cy="1036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14800" cy="1036320"/>
            </a:xfrm>
            <a:custGeom>
              <a:avLst/>
              <a:gdLst/>
              <a:ahLst/>
              <a:cxnLst/>
              <a:rect r="r" b="b" t="t" l="l"/>
              <a:pathLst>
                <a:path h="1036320" w="411480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lnTo>
                    <a:pt x="3596640" y="0"/>
                  </a:lnTo>
                  <a:cubicBezTo>
                    <a:pt x="3882771" y="0"/>
                    <a:pt x="4114800" y="232029"/>
                    <a:pt x="4114800" y="518160"/>
                  </a:cubicBezTo>
                  <a:cubicBezTo>
                    <a:pt x="4114800" y="804291"/>
                    <a:pt x="3882771" y="1036320"/>
                    <a:pt x="3596640" y="1036320"/>
                  </a:cubicBezTo>
                  <a:lnTo>
                    <a:pt x="518160" y="1036320"/>
                  </a:ln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758702" y="7247572"/>
            <a:ext cx="23928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402E7F"/>
                </a:solidFill>
                <a:latin typeface="Arimo"/>
                <a:ea typeface="Arimo"/>
                <a:cs typeface="Arimo"/>
                <a:sym typeface="Arimo"/>
              </a:rPr>
              <a:t>Team ZapPay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985385" y="7131368"/>
            <a:ext cx="3086100" cy="777240"/>
            <a:chOff x="0" y="0"/>
            <a:chExt cx="4114800" cy="10363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4800" cy="1036320"/>
            </a:xfrm>
            <a:custGeom>
              <a:avLst/>
              <a:gdLst/>
              <a:ahLst/>
              <a:cxnLst/>
              <a:rect r="r" b="b" t="t" l="l"/>
              <a:pathLst>
                <a:path h="1036320" w="411480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lnTo>
                    <a:pt x="3596640" y="0"/>
                  </a:lnTo>
                  <a:cubicBezTo>
                    <a:pt x="3882771" y="0"/>
                    <a:pt x="4114800" y="232029"/>
                    <a:pt x="4114800" y="518160"/>
                  </a:cubicBezTo>
                  <a:cubicBezTo>
                    <a:pt x="4114800" y="804291"/>
                    <a:pt x="3882771" y="1036320"/>
                    <a:pt x="3596640" y="1036320"/>
                  </a:cubicBezTo>
                  <a:lnTo>
                    <a:pt x="518160" y="1036320"/>
                  </a:ln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575444" y="7247572"/>
            <a:ext cx="190693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402E7F"/>
                </a:solidFill>
                <a:latin typeface="Arimo"/>
                <a:ea typeface="Arimo"/>
                <a:cs typeface="Arimo"/>
                <a:sym typeface="Arimo"/>
              </a:rPr>
              <a:t>2025/12/05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3706178"/>
            <a:chOff x="0" y="0"/>
            <a:chExt cx="24375110" cy="49415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4941570"/>
            </a:xfrm>
            <a:custGeom>
              <a:avLst/>
              <a:gdLst/>
              <a:ahLst/>
              <a:cxnLst/>
              <a:rect r="r" b="b" t="t" l="l"/>
              <a:pathLst>
                <a:path h="4941570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4941570"/>
                  </a:lnTo>
                  <a:lnTo>
                    <a:pt x="0" y="4941570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5512384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85888" y="4070985"/>
            <a:ext cx="3606165" cy="4835842"/>
            <a:chOff x="0" y="0"/>
            <a:chExt cx="4808220" cy="64477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9050" y="19050"/>
              <a:ext cx="4770120" cy="6409690"/>
            </a:xfrm>
            <a:custGeom>
              <a:avLst/>
              <a:gdLst/>
              <a:ahLst/>
              <a:cxnLst/>
              <a:rect r="r" b="b" t="t" l="l"/>
              <a:pathLst>
                <a:path h="6409690" w="4770120">
                  <a:moveTo>
                    <a:pt x="0" y="569468"/>
                  </a:moveTo>
                  <a:cubicBezTo>
                    <a:pt x="0" y="255016"/>
                    <a:pt x="254381" y="0"/>
                    <a:pt x="568325" y="0"/>
                  </a:cubicBezTo>
                  <a:lnTo>
                    <a:pt x="4201795" y="0"/>
                  </a:lnTo>
                  <a:cubicBezTo>
                    <a:pt x="4515612" y="0"/>
                    <a:pt x="4770120" y="255016"/>
                    <a:pt x="4770120" y="569468"/>
                  </a:cubicBezTo>
                  <a:lnTo>
                    <a:pt x="4770120" y="5840222"/>
                  </a:lnTo>
                  <a:cubicBezTo>
                    <a:pt x="4770120" y="6154674"/>
                    <a:pt x="4515739" y="6409690"/>
                    <a:pt x="4201795" y="6409690"/>
                  </a:cubicBezTo>
                  <a:lnTo>
                    <a:pt x="568325" y="6409690"/>
                  </a:lnTo>
                  <a:cubicBezTo>
                    <a:pt x="254508" y="6409690"/>
                    <a:pt x="0" y="6154674"/>
                    <a:pt x="0" y="5840222"/>
                  </a:cubicBez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808220" cy="6447790"/>
            </a:xfrm>
            <a:custGeom>
              <a:avLst/>
              <a:gdLst/>
              <a:ahLst/>
              <a:cxnLst/>
              <a:rect r="r" b="b" t="t" l="l"/>
              <a:pathLst>
                <a:path h="6447790" w="4808220">
                  <a:moveTo>
                    <a:pt x="0" y="588518"/>
                  </a:moveTo>
                  <a:cubicBezTo>
                    <a:pt x="0" y="263525"/>
                    <a:pt x="262890" y="0"/>
                    <a:pt x="587375" y="0"/>
                  </a:cubicBezTo>
                  <a:lnTo>
                    <a:pt x="4220845" y="0"/>
                  </a:lnTo>
                  <a:lnTo>
                    <a:pt x="4220845" y="19050"/>
                  </a:lnTo>
                  <a:lnTo>
                    <a:pt x="4220845" y="0"/>
                  </a:lnTo>
                  <a:cubicBezTo>
                    <a:pt x="4545330" y="0"/>
                    <a:pt x="4808220" y="263525"/>
                    <a:pt x="4808220" y="588518"/>
                  </a:cubicBezTo>
                  <a:lnTo>
                    <a:pt x="4789170" y="588518"/>
                  </a:lnTo>
                  <a:lnTo>
                    <a:pt x="4808220" y="588518"/>
                  </a:lnTo>
                  <a:lnTo>
                    <a:pt x="4808220" y="5859272"/>
                  </a:lnTo>
                  <a:lnTo>
                    <a:pt x="4789170" y="5859272"/>
                  </a:lnTo>
                  <a:lnTo>
                    <a:pt x="4808220" y="5859272"/>
                  </a:lnTo>
                  <a:cubicBezTo>
                    <a:pt x="4808220" y="6184265"/>
                    <a:pt x="4545330" y="6447790"/>
                    <a:pt x="4220845" y="6447790"/>
                  </a:cubicBezTo>
                  <a:lnTo>
                    <a:pt x="4220845" y="6428740"/>
                  </a:lnTo>
                  <a:lnTo>
                    <a:pt x="4220845" y="6447790"/>
                  </a:lnTo>
                  <a:lnTo>
                    <a:pt x="587375" y="6447790"/>
                  </a:lnTo>
                  <a:lnTo>
                    <a:pt x="587375" y="6428740"/>
                  </a:lnTo>
                  <a:lnTo>
                    <a:pt x="587375" y="6447790"/>
                  </a:lnTo>
                  <a:cubicBezTo>
                    <a:pt x="262890" y="6447790"/>
                    <a:pt x="0" y="6184265"/>
                    <a:pt x="0" y="5859272"/>
                  </a:cubicBezTo>
                  <a:lnTo>
                    <a:pt x="0" y="588518"/>
                  </a:lnTo>
                  <a:lnTo>
                    <a:pt x="19050" y="588518"/>
                  </a:lnTo>
                  <a:lnTo>
                    <a:pt x="0" y="588518"/>
                  </a:lnTo>
                  <a:moveTo>
                    <a:pt x="38100" y="588518"/>
                  </a:moveTo>
                  <a:lnTo>
                    <a:pt x="38100" y="5859272"/>
                  </a:lnTo>
                  <a:lnTo>
                    <a:pt x="19050" y="5859272"/>
                  </a:lnTo>
                  <a:lnTo>
                    <a:pt x="38100" y="5859272"/>
                  </a:lnTo>
                  <a:cubicBezTo>
                    <a:pt x="38100" y="6163310"/>
                    <a:pt x="284099" y="6409690"/>
                    <a:pt x="587375" y="6409690"/>
                  </a:cubicBezTo>
                  <a:lnTo>
                    <a:pt x="4220845" y="6409690"/>
                  </a:lnTo>
                  <a:cubicBezTo>
                    <a:pt x="4524121" y="6409690"/>
                    <a:pt x="4770120" y="6163310"/>
                    <a:pt x="4770120" y="5859272"/>
                  </a:cubicBezTo>
                  <a:lnTo>
                    <a:pt x="4770120" y="588518"/>
                  </a:lnTo>
                  <a:cubicBezTo>
                    <a:pt x="4770120" y="284480"/>
                    <a:pt x="4524121" y="38100"/>
                    <a:pt x="4220845" y="38100"/>
                  </a:cubicBezTo>
                  <a:lnTo>
                    <a:pt x="587375" y="38100"/>
                  </a:lnTo>
                  <a:lnTo>
                    <a:pt x="587375" y="19050"/>
                  </a:lnTo>
                  <a:lnTo>
                    <a:pt x="587375" y="38100"/>
                  </a:lnTo>
                  <a:cubicBezTo>
                    <a:pt x="284099" y="38100"/>
                    <a:pt x="38100" y="284480"/>
                    <a:pt x="38100" y="588518"/>
                  </a:cubicBez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2701766" y="7834789"/>
            <a:ext cx="975360" cy="61912"/>
            <a:chOff x="0" y="0"/>
            <a:chExt cx="1300480" cy="82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1275" y="0"/>
              <a:ext cx="1217930" cy="82550"/>
            </a:xfrm>
            <a:custGeom>
              <a:avLst/>
              <a:gdLst/>
              <a:ahLst/>
              <a:cxnLst/>
              <a:rect r="r" b="b" t="t" l="l"/>
              <a:pathLst>
                <a:path h="82550" w="1217930">
                  <a:moveTo>
                    <a:pt x="0" y="0"/>
                  </a:moveTo>
                  <a:lnTo>
                    <a:pt x="1217930" y="0"/>
                  </a:lnTo>
                  <a:lnTo>
                    <a:pt x="1217930" y="82550"/>
                  </a:lnTo>
                  <a:lnTo>
                    <a:pt x="0" y="82550"/>
                  </a:ln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696528" y="4764405"/>
            <a:ext cx="984885" cy="984885"/>
            <a:chOff x="0" y="0"/>
            <a:chExt cx="1313180" cy="13131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3180" cy="1313180"/>
            </a:xfrm>
            <a:custGeom>
              <a:avLst/>
              <a:gdLst/>
              <a:ahLst/>
              <a:cxnLst/>
              <a:rect r="r" b="b" t="t" l="l"/>
              <a:pathLst>
                <a:path h="1313180" w="1313180">
                  <a:moveTo>
                    <a:pt x="0" y="656590"/>
                  </a:moveTo>
                  <a:cubicBezTo>
                    <a:pt x="0" y="294005"/>
                    <a:pt x="294005" y="0"/>
                    <a:pt x="656590" y="0"/>
                  </a:cubicBezTo>
                  <a:cubicBezTo>
                    <a:pt x="1019175" y="0"/>
                    <a:pt x="1313180" y="294005"/>
                    <a:pt x="1313180" y="656590"/>
                  </a:cubicBezTo>
                  <a:cubicBezTo>
                    <a:pt x="1313180" y="1019175"/>
                    <a:pt x="1019175" y="1313180"/>
                    <a:pt x="656590" y="1313180"/>
                  </a:cubicBezTo>
                  <a:cubicBezTo>
                    <a:pt x="294005" y="1313180"/>
                    <a:pt x="0" y="1019175"/>
                    <a:pt x="0" y="6565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C7DB7">
                    <a:alpha val="100000"/>
                  </a:srgbClr>
                </a:gs>
                <a:gs pos="77000">
                  <a:srgbClr val="AF9DC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340668" y="4070985"/>
            <a:ext cx="3606165" cy="4835842"/>
            <a:chOff x="0" y="0"/>
            <a:chExt cx="4808220" cy="64477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9050" y="19050"/>
              <a:ext cx="4770120" cy="6409690"/>
            </a:xfrm>
            <a:custGeom>
              <a:avLst/>
              <a:gdLst/>
              <a:ahLst/>
              <a:cxnLst/>
              <a:rect r="r" b="b" t="t" l="l"/>
              <a:pathLst>
                <a:path h="6409690" w="4770120">
                  <a:moveTo>
                    <a:pt x="0" y="569468"/>
                  </a:moveTo>
                  <a:cubicBezTo>
                    <a:pt x="0" y="255016"/>
                    <a:pt x="254381" y="0"/>
                    <a:pt x="568325" y="0"/>
                  </a:cubicBezTo>
                  <a:lnTo>
                    <a:pt x="4201795" y="0"/>
                  </a:lnTo>
                  <a:cubicBezTo>
                    <a:pt x="4515612" y="0"/>
                    <a:pt x="4770120" y="255016"/>
                    <a:pt x="4770120" y="569468"/>
                  </a:cubicBezTo>
                  <a:lnTo>
                    <a:pt x="4770120" y="5840222"/>
                  </a:lnTo>
                  <a:cubicBezTo>
                    <a:pt x="4770120" y="6154674"/>
                    <a:pt x="4515739" y="6409690"/>
                    <a:pt x="4201795" y="6409690"/>
                  </a:cubicBezTo>
                  <a:lnTo>
                    <a:pt x="568325" y="6409690"/>
                  </a:lnTo>
                  <a:cubicBezTo>
                    <a:pt x="254508" y="6409690"/>
                    <a:pt x="0" y="6154674"/>
                    <a:pt x="0" y="5840222"/>
                  </a:cubicBez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08220" cy="6447790"/>
            </a:xfrm>
            <a:custGeom>
              <a:avLst/>
              <a:gdLst/>
              <a:ahLst/>
              <a:cxnLst/>
              <a:rect r="r" b="b" t="t" l="l"/>
              <a:pathLst>
                <a:path h="6447790" w="4808220">
                  <a:moveTo>
                    <a:pt x="0" y="588518"/>
                  </a:moveTo>
                  <a:cubicBezTo>
                    <a:pt x="0" y="263525"/>
                    <a:pt x="262890" y="0"/>
                    <a:pt x="587375" y="0"/>
                  </a:cubicBezTo>
                  <a:lnTo>
                    <a:pt x="4220845" y="0"/>
                  </a:lnTo>
                  <a:lnTo>
                    <a:pt x="4220845" y="19050"/>
                  </a:lnTo>
                  <a:lnTo>
                    <a:pt x="4220845" y="0"/>
                  </a:lnTo>
                  <a:cubicBezTo>
                    <a:pt x="4545330" y="0"/>
                    <a:pt x="4808220" y="263525"/>
                    <a:pt x="4808220" y="588518"/>
                  </a:cubicBezTo>
                  <a:lnTo>
                    <a:pt x="4789170" y="588518"/>
                  </a:lnTo>
                  <a:lnTo>
                    <a:pt x="4808220" y="588518"/>
                  </a:lnTo>
                  <a:lnTo>
                    <a:pt x="4808220" y="5859272"/>
                  </a:lnTo>
                  <a:lnTo>
                    <a:pt x="4789170" y="5859272"/>
                  </a:lnTo>
                  <a:lnTo>
                    <a:pt x="4808220" y="5859272"/>
                  </a:lnTo>
                  <a:cubicBezTo>
                    <a:pt x="4808220" y="6184265"/>
                    <a:pt x="4545330" y="6447790"/>
                    <a:pt x="4220845" y="6447790"/>
                  </a:cubicBezTo>
                  <a:lnTo>
                    <a:pt x="4220845" y="6428740"/>
                  </a:lnTo>
                  <a:lnTo>
                    <a:pt x="4220845" y="6447790"/>
                  </a:lnTo>
                  <a:lnTo>
                    <a:pt x="587375" y="6447790"/>
                  </a:lnTo>
                  <a:lnTo>
                    <a:pt x="587375" y="6428740"/>
                  </a:lnTo>
                  <a:lnTo>
                    <a:pt x="587375" y="6447790"/>
                  </a:lnTo>
                  <a:cubicBezTo>
                    <a:pt x="262890" y="6447790"/>
                    <a:pt x="0" y="6184265"/>
                    <a:pt x="0" y="5859272"/>
                  </a:cubicBezTo>
                  <a:lnTo>
                    <a:pt x="0" y="588518"/>
                  </a:lnTo>
                  <a:lnTo>
                    <a:pt x="19050" y="588518"/>
                  </a:lnTo>
                  <a:lnTo>
                    <a:pt x="0" y="588518"/>
                  </a:lnTo>
                  <a:moveTo>
                    <a:pt x="38100" y="588518"/>
                  </a:moveTo>
                  <a:lnTo>
                    <a:pt x="38100" y="5859272"/>
                  </a:lnTo>
                  <a:lnTo>
                    <a:pt x="19050" y="5859272"/>
                  </a:lnTo>
                  <a:lnTo>
                    <a:pt x="38100" y="5859272"/>
                  </a:lnTo>
                  <a:cubicBezTo>
                    <a:pt x="38100" y="6163310"/>
                    <a:pt x="284099" y="6409690"/>
                    <a:pt x="587375" y="6409690"/>
                  </a:cubicBezTo>
                  <a:lnTo>
                    <a:pt x="4220845" y="6409690"/>
                  </a:lnTo>
                  <a:cubicBezTo>
                    <a:pt x="4524121" y="6409690"/>
                    <a:pt x="4770120" y="6163310"/>
                    <a:pt x="4770120" y="5859272"/>
                  </a:cubicBezTo>
                  <a:lnTo>
                    <a:pt x="4770120" y="588518"/>
                  </a:lnTo>
                  <a:cubicBezTo>
                    <a:pt x="4770120" y="284480"/>
                    <a:pt x="4524121" y="38100"/>
                    <a:pt x="4220845" y="38100"/>
                  </a:cubicBezTo>
                  <a:lnTo>
                    <a:pt x="587375" y="38100"/>
                  </a:lnTo>
                  <a:lnTo>
                    <a:pt x="587375" y="19050"/>
                  </a:lnTo>
                  <a:lnTo>
                    <a:pt x="587375" y="38100"/>
                  </a:lnTo>
                  <a:cubicBezTo>
                    <a:pt x="284099" y="38100"/>
                    <a:pt x="38100" y="284480"/>
                    <a:pt x="38100" y="588518"/>
                  </a:cubicBez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656546" y="7834789"/>
            <a:ext cx="975360" cy="61912"/>
            <a:chOff x="0" y="0"/>
            <a:chExt cx="1300480" cy="82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1275" y="0"/>
              <a:ext cx="1217930" cy="82550"/>
            </a:xfrm>
            <a:custGeom>
              <a:avLst/>
              <a:gdLst/>
              <a:ahLst/>
              <a:cxnLst/>
              <a:rect r="r" b="b" t="t" l="l"/>
              <a:pathLst>
                <a:path h="82550" w="1217930">
                  <a:moveTo>
                    <a:pt x="0" y="0"/>
                  </a:moveTo>
                  <a:lnTo>
                    <a:pt x="1217930" y="0"/>
                  </a:lnTo>
                  <a:lnTo>
                    <a:pt x="1217930" y="82550"/>
                  </a:lnTo>
                  <a:lnTo>
                    <a:pt x="0" y="82550"/>
                  </a:ln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651307" y="4764405"/>
            <a:ext cx="984885" cy="984885"/>
            <a:chOff x="0" y="0"/>
            <a:chExt cx="1313180" cy="13131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3180" cy="1313180"/>
            </a:xfrm>
            <a:custGeom>
              <a:avLst/>
              <a:gdLst/>
              <a:ahLst/>
              <a:cxnLst/>
              <a:rect r="r" b="b" t="t" l="l"/>
              <a:pathLst>
                <a:path h="1313180" w="1313180">
                  <a:moveTo>
                    <a:pt x="0" y="656590"/>
                  </a:moveTo>
                  <a:cubicBezTo>
                    <a:pt x="0" y="294005"/>
                    <a:pt x="294005" y="0"/>
                    <a:pt x="656590" y="0"/>
                  </a:cubicBezTo>
                  <a:cubicBezTo>
                    <a:pt x="1019175" y="0"/>
                    <a:pt x="1313180" y="294005"/>
                    <a:pt x="1313180" y="656590"/>
                  </a:cubicBezTo>
                  <a:cubicBezTo>
                    <a:pt x="1313180" y="1019175"/>
                    <a:pt x="1019175" y="1313180"/>
                    <a:pt x="656590" y="1313180"/>
                  </a:cubicBezTo>
                  <a:cubicBezTo>
                    <a:pt x="294005" y="1313180"/>
                    <a:pt x="0" y="1019175"/>
                    <a:pt x="0" y="6565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C7DB7">
                    <a:alpha val="100000"/>
                  </a:srgbClr>
                </a:gs>
                <a:gs pos="77000">
                  <a:srgbClr val="AF9DC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95448" y="4070985"/>
            <a:ext cx="3606165" cy="4835842"/>
            <a:chOff x="0" y="0"/>
            <a:chExt cx="4808220" cy="64477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9050" y="19050"/>
              <a:ext cx="4770120" cy="6409690"/>
            </a:xfrm>
            <a:custGeom>
              <a:avLst/>
              <a:gdLst/>
              <a:ahLst/>
              <a:cxnLst/>
              <a:rect r="r" b="b" t="t" l="l"/>
              <a:pathLst>
                <a:path h="6409690" w="4770120">
                  <a:moveTo>
                    <a:pt x="0" y="569468"/>
                  </a:moveTo>
                  <a:cubicBezTo>
                    <a:pt x="0" y="255016"/>
                    <a:pt x="254381" y="0"/>
                    <a:pt x="568325" y="0"/>
                  </a:cubicBezTo>
                  <a:lnTo>
                    <a:pt x="4201795" y="0"/>
                  </a:lnTo>
                  <a:cubicBezTo>
                    <a:pt x="4515612" y="0"/>
                    <a:pt x="4770120" y="255016"/>
                    <a:pt x="4770120" y="569468"/>
                  </a:cubicBezTo>
                  <a:lnTo>
                    <a:pt x="4770120" y="5840222"/>
                  </a:lnTo>
                  <a:cubicBezTo>
                    <a:pt x="4770120" y="6154674"/>
                    <a:pt x="4515739" y="6409690"/>
                    <a:pt x="4201795" y="6409690"/>
                  </a:cubicBezTo>
                  <a:lnTo>
                    <a:pt x="568325" y="6409690"/>
                  </a:lnTo>
                  <a:cubicBezTo>
                    <a:pt x="254508" y="6409690"/>
                    <a:pt x="0" y="6154674"/>
                    <a:pt x="0" y="5840222"/>
                  </a:cubicBez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08220" cy="6447790"/>
            </a:xfrm>
            <a:custGeom>
              <a:avLst/>
              <a:gdLst/>
              <a:ahLst/>
              <a:cxnLst/>
              <a:rect r="r" b="b" t="t" l="l"/>
              <a:pathLst>
                <a:path h="6447790" w="4808220">
                  <a:moveTo>
                    <a:pt x="0" y="588518"/>
                  </a:moveTo>
                  <a:cubicBezTo>
                    <a:pt x="0" y="263525"/>
                    <a:pt x="262890" y="0"/>
                    <a:pt x="587375" y="0"/>
                  </a:cubicBezTo>
                  <a:lnTo>
                    <a:pt x="4220845" y="0"/>
                  </a:lnTo>
                  <a:lnTo>
                    <a:pt x="4220845" y="19050"/>
                  </a:lnTo>
                  <a:lnTo>
                    <a:pt x="4220845" y="0"/>
                  </a:lnTo>
                  <a:cubicBezTo>
                    <a:pt x="4545330" y="0"/>
                    <a:pt x="4808220" y="263525"/>
                    <a:pt x="4808220" y="588518"/>
                  </a:cubicBezTo>
                  <a:lnTo>
                    <a:pt x="4789170" y="588518"/>
                  </a:lnTo>
                  <a:lnTo>
                    <a:pt x="4808220" y="588518"/>
                  </a:lnTo>
                  <a:lnTo>
                    <a:pt x="4808220" y="5859272"/>
                  </a:lnTo>
                  <a:lnTo>
                    <a:pt x="4789170" y="5859272"/>
                  </a:lnTo>
                  <a:lnTo>
                    <a:pt x="4808220" y="5859272"/>
                  </a:lnTo>
                  <a:cubicBezTo>
                    <a:pt x="4808220" y="6184265"/>
                    <a:pt x="4545330" y="6447790"/>
                    <a:pt x="4220845" y="6447790"/>
                  </a:cubicBezTo>
                  <a:lnTo>
                    <a:pt x="4220845" y="6428740"/>
                  </a:lnTo>
                  <a:lnTo>
                    <a:pt x="4220845" y="6447790"/>
                  </a:lnTo>
                  <a:lnTo>
                    <a:pt x="587375" y="6447790"/>
                  </a:lnTo>
                  <a:lnTo>
                    <a:pt x="587375" y="6428740"/>
                  </a:lnTo>
                  <a:lnTo>
                    <a:pt x="587375" y="6447790"/>
                  </a:lnTo>
                  <a:cubicBezTo>
                    <a:pt x="262890" y="6447790"/>
                    <a:pt x="0" y="6184265"/>
                    <a:pt x="0" y="5859272"/>
                  </a:cubicBezTo>
                  <a:lnTo>
                    <a:pt x="0" y="588518"/>
                  </a:lnTo>
                  <a:lnTo>
                    <a:pt x="19050" y="588518"/>
                  </a:lnTo>
                  <a:lnTo>
                    <a:pt x="0" y="588518"/>
                  </a:lnTo>
                  <a:moveTo>
                    <a:pt x="38100" y="588518"/>
                  </a:moveTo>
                  <a:lnTo>
                    <a:pt x="38100" y="5859272"/>
                  </a:lnTo>
                  <a:lnTo>
                    <a:pt x="19050" y="5859272"/>
                  </a:lnTo>
                  <a:lnTo>
                    <a:pt x="38100" y="5859272"/>
                  </a:lnTo>
                  <a:cubicBezTo>
                    <a:pt x="38100" y="6163310"/>
                    <a:pt x="284099" y="6409690"/>
                    <a:pt x="587375" y="6409690"/>
                  </a:cubicBezTo>
                  <a:lnTo>
                    <a:pt x="4220845" y="6409690"/>
                  </a:lnTo>
                  <a:cubicBezTo>
                    <a:pt x="4524121" y="6409690"/>
                    <a:pt x="4770120" y="6163310"/>
                    <a:pt x="4770120" y="5859272"/>
                  </a:cubicBezTo>
                  <a:lnTo>
                    <a:pt x="4770120" y="588518"/>
                  </a:lnTo>
                  <a:cubicBezTo>
                    <a:pt x="4770120" y="284480"/>
                    <a:pt x="4524121" y="38100"/>
                    <a:pt x="4220845" y="38100"/>
                  </a:cubicBezTo>
                  <a:lnTo>
                    <a:pt x="587375" y="38100"/>
                  </a:lnTo>
                  <a:lnTo>
                    <a:pt x="587375" y="19050"/>
                  </a:lnTo>
                  <a:lnTo>
                    <a:pt x="587375" y="38100"/>
                  </a:lnTo>
                  <a:cubicBezTo>
                    <a:pt x="284099" y="38100"/>
                    <a:pt x="38100" y="284480"/>
                    <a:pt x="38100" y="588518"/>
                  </a:cubicBez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611326" y="7834789"/>
            <a:ext cx="975360" cy="61912"/>
            <a:chOff x="0" y="0"/>
            <a:chExt cx="1300480" cy="825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1275" y="0"/>
              <a:ext cx="1217930" cy="82550"/>
            </a:xfrm>
            <a:custGeom>
              <a:avLst/>
              <a:gdLst/>
              <a:ahLst/>
              <a:cxnLst/>
              <a:rect r="r" b="b" t="t" l="l"/>
              <a:pathLst>
                <a:path h="82550" w="1217930">
                  <a:moveTo>
                    <a:pt x="0" y="0"/>
                  </a:moveTo>
                  <a:lnTo>
                    <a:pt x="1217930" y="0"/>
                  </a:lnTo>
                  <a:lnTo>
                    <a:pt x="1217930" y="82550"/>
                  </a:lnTo>
                  <a:lnTo>
                    <a:pt x="0" y="82550"/>
                  </a:ln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0606088" y="4764405"/>
            <a:ext cx="984885" cy="984885"/>
            <a:chOff x="0" y="0"/>
            <a:chExt cx="1313180" cy="13131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13180" cy="1313180"/>
            </a:xfrm>
            <a:custGeom>
              <a:avLst/>
              <a:gdLst/>
              <a:ahLst/>
              <a:cxnLst/>
              <a:rect r="r" b="b" t="t" l="l"/>
              <a:pathLst>
                <a:path h="1313180" w="1313180">
                  <a:moveTo>
                    <a:pt x="0" y="656590"/>
                  </a:moveTo>
                  <a:cubicBezTo>
                    <a:pt x="0" y="294005"/>
                    <a:pt x="294005" y="0"/>
                    <a:pt x="656590" y="0"/>
                  </a:cubicBezTo>
                  <a:cubicBezTo>
                    <a:pt x="1019175" y="0"/>
                    <a:pt x="1313180" y="294005"/>
                    <a:pt x="1313180" y="656590"/>
                  </a:cubicBezTo>
                  <a:cubicBezTo>
                    <a:pt x="1313180" y="1019175"/>
                    <a:pt x="1019175" y="1313180"/>
                    <a:pt x="656590" y="1313180"/>
                  </a:cubicBezTo>
                  <a:cubicBezTo>
                    <a:pt x="294005" y="1313180"/>
                    <a:pt x="0" y="1019175"/>
                    <a:pt x="0" y="6565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C7DB7">
                    <a:alpha val="100000"/>
                  </a:srgbClr>
                </a:gs>
                <a:gs pos="77000">
                  <a:srgbClr val="AF9DC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250227" y="4070985"/>
            <a:ext cx="3606165" cy="4835842"/>
            <a:chOff x="0" y="0"/>
            <a:chExt cx="4808220" cy="64477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4770120" cy="6409690"/>
            </a:xfrm>
            <a:custGeom>
              <a:avLst/>
              <a:gdLst/>
              <a:ahLst/>
              <a:cxnLst/>
              <a:rect r="r" b="b" t="t" l="l"/>
              <a:pathLst>
                <a:path h="6409690" w="4770120">
                  <a:moveTo>
                    <a:pt x="0" y="569468"/>
                  </a:moveTo>
                  <a:cubicBezTo>
                    <a:pt x="0" y="255016"/>
                    <a:pt x="254381" y="0"/>
                    <a:pt x="568325" y="0"/>
                  </a:cubicBezTo>
                  <a:lnTo>
                    <a:pt x="4201795" y="0"/>
                  </a:lnTo>
                  <a:cubicBezTo>
                    <a:pt x="4515612" y="0"/>
                    <a:pt x="4770120" y="255016"/>
                    <a:pt x="4770120" y="569468"/>
                  </a:cubicBezTo>
                  <a:lnTo>
                    <a:pt x="4770120" y="5840222"/>
                  </a:lnTo>
                  <a:cubicBezTo>
                    <a:pt x="4770120" y="6154674"/>
                    <a:pt x="4515739" y="6409690"/>
                    <a:pt x="4201795" y="6409690"/>
                  </a:cubicBezTo>
                  <a:lnTo>
                    <a:pt x="568325" y="6409690"/>
                  </a:lnTo>
                  <a:cubicBezTo>
                    <a:pt x="254508" y="6409690"/>
                    <a:pt x="0" y="6154674"/>
                    <a:pt x="0" y="5840222"/>
                  </a:cubicBezTo>
                  <a:close/>
                </a:path>
              </a:pathLst>
            </a:custGeom>
            <a:solidFill>
              <a:srgbClr val="FFFFFF">
                <a:alpha val="2902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08220" cy="6447790"/>
            </a:xfrm>
            <a:custGeom>
              <a:avLst/>
              <a:gdLst/>
              <a:ahLst/>
              <a:cxnLst/>
              <a:rect r="r" b="b" t="t" l="l"/>
              <a:pathLst>
                <a:path h="6447790" w="4808220">
                  <a:moveTo>
                    <a:pt x="0" y="588518"/>
                  </a:moveTo>
                  <a:cubicBezTo>
                    <a:pt x="0" y="263525"/>
                    <a:pt x="262890" y="0"/>
                    <a:pt x="587375" y="0"/>
                  </a:cubicBezTo>
                  <a:lnTo>
                    <a:pt x="4220845" y="0"/>
                  </a:lnTo>
                  <a:lnTo>
                    <a:pt x="4220845" y="19050"/>
                  </a:lnTo>
                  <a:lnTo>
                    <a:pt x="4220845" y="0"/>
                  </a:lnTo>
                  <a:cubicBezTo>
                    <a:pt x="4545330" y="0"/>
                    <a:pt x="4808220" y="263525"/>
                    <a:pt x="4808220" y="588518"/>
                  </a:cubicBezTo>
                  <a:lnTo>
                    <a:pt x="4789170" y="588518"/>
                  </a:lnTo>
                  <a:lnTo>
                    <a:pt x="4808220" y="588518"/>
                  </a:lnTo>
                  <a:lnTo>
                    <a:pt x="4808220" y="5859272"/>
                  </a:lnTo>
                  <a:lnTo>
                    <a:pt x="4789170" y="5859272"/>
                  </a:lnTo>
                  <a:lnTo>
                    <a:pt x="4808220" y="5859272"/>
                  </a:lnTo>
                  <a:cubicBezTo>
                    <a:pt x="4808220" y="6184265"/>
                    <a:pt x="4545330" y="6447790"/>
                    <a:pt x="4220845" y="6447790"/>
                  </a:cubicBezTo>
                  <a:lnTo>
                    <a:pt x="4220845" y="6428740"/>
                  </a:lnTo>
                  <a:lnTo>
                    <a:pt x="4220845" y="6447790"/>
                  </a:lnTo>
                  <a:lnTo>
                    <a:pt x="587375" y="6447790"/>
                  </a:lnTo>
                  <a:lnTo>
                    <a:pt x="587375" y="6428740"/>
                  </a:lnTo>
                  <a:lnTo>
                    <a:pt x="587375" y="6447790"/>
                  </a:lnTo>
                  <a:cubicBezTo>
                    <a:pt x="262890" y="6447790"/>
                    <a:pt x="0" y="6184265"/>
                    <a:pt x="0" y="5859272"/>
                  </a:cubicBezTo>
                  <a:lnTo>
                    <a:pt x="0" y="588518"/>
                  </a:lnTo>
                  <a:lnTo>
                    <a:pt x="19050" y="588518"/>
                  </a:lnTo>
                  <a:lnTo>
                    <a:pt x="0" y="588518"/>
                  </a:lnTo>
                  <a:moveTo>
                    <a:pt x="38100" y="588518"/>
                  </a:moveTo>
                  <a:lnTo>
                    <a:pt x="38100" y="5859272"/>
                  </a:lnTo>
                  <a:lnTo>
                    <a:pt x="19050" y="5859272"/>
                  </a:lnTo>
                  <a:lnTo>
                    <a:pt x="38100" y="5859272"/>
                  </a:lnTo>
                  <a:cubicBezTo>
                    <a:pt x="38100" y="6163310"/>
                    <a:pt x="284099" y="6409690"/>
                    <a:pt x="587375" y="6409690"/>
                  </a:cubicBezTo>
                  <a:lnTo>
                    <a:pt x="4220845" y="6409690"/>
                  </a:lnTo>
                  <a:cubicBezTo>
                    <a:pt x="4524121" y="6409690"/>
                    <a:pt x="4770120" y="6163310"/>
                    <a:pt x="4770120" y="5859272"/>
                  </a:cubicBezTo>
                  <a:lnTo>
                    <a:pt x="4770120" y="588518"/>
                  </a:lnTo>
                  <a:cubicBezTo>
                    <a:pt x="4770120" y="284480"/>
                    <a:pt x="4524121" y="38100"/>
                    <a:pt x="4220845" y="38100"/>
                  </a:cubicBezTo>
                  <a:lnTo>
                    <a:pt x="587375" y="38100"/>
                  </a:lnTo>
                  <a:lnTo>
                    <a:pt x="587375" y="19050"/>
                  </a:lnTo>
                  <a:lnTo>
                    <a:pt x="587375" y="38100"/>
                  </a:lnTo>
                  <a:cubicBezTo>
                    <a:pt x="284099" y="38100"/>
                    <a:pt x="38100" y="284480"/>
                    <a:pt x="38100" y="588518"/>
                  </a:cubicBez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566106" y="7834789"/>
            <a:ext cx="975360" cy="61912"/>
            <a:chOff x="0" y="0"/>
            <a:chExt cx="1300480" cy="825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41275" y="0"/>
              <a:ext cx="1217930" cy="82550"/>
            </a:xfrm>
            <a:custGeom>
              <a:avLst/>
              <a:gdLst/>
              <a:ahLst/>
              <a:cxnLst/>
              <a:rect r="r" b="b" t="t" l="l"/>
              <a:pathLst>
                <a:path h="82550" w="1217930">
                  <a:moveTo>
                    <a:pt x="0" y="0"/>
                  </a:moveTo>
                  <a:lnTo>
                    <a:pt x="1217930" y="0"/>
                  </a:lnTo>
                  <a:lnTo>
                    <a:pt x="1217930" y="82550"/>
                  </a:lnTo>
                  <a:lnTo>
                    <a:pt x="0" y="82550"/>
                  </a:lnTo>
                  <a:close/>
                </a:path>
              </a:pathLst>
            </a:custGeom>
            <a:solidFill>
              <a:srgbClr val="402E7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560868" y="4764405"/>
            <a:ext cx="984885" cy="984885"/>
            <a:chOff x="0" y="0"/>
            <a:chExt cx="1313180" cy="13131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13180" cy="1313180"/>
            </a:xfrm>
            <a:custGeom>
              <a:avLst/>
              <a:gdLst/>
              <a:ahLst/>
              <a:cxnLst/>
              <a:rect r="r" b="b" t="t" l="l"/>
              <a:pathLst>
                <a:path h="1313180" w="1313180">
                  <a:moveTo>
                    <a:pt x="0" y="656590"/>
                  </a:moveTo>
                  <a:cubicBezTo>
                    <a:pt x="0" y="294005"/>
                    <a:pt x="294005" y="0"/>
                    <a:pt x="656590" y="0"/>
                  </a:cubicBezTo>
                  <a:cubicBezTo>
                    <a:pt x="1019175" y="0"/>
                    <a:pt x="1313180" y="294005"/>
                    <a:pt x="1313180" y="656590"/>
                  </a:cubicBezTo>
                  <a:cubicBezTo>
                    <a:pt x="1313180" y="1019175"/>
                    <a:pt x="1019175" y="1313180"/>
                    <a:pt x="656590" y="1313180"/>
                  </a:cubicBezTo>
                  <a:cubicBezTo>
                    <a:pt x="294005" y="1313180"/>
                    <a:pt x="0" y="1019175"/>
                    <a:pt x="0" y="65659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C7DB7">
                    <a:alpha val="100000"/>
                  </a:srgbClr>
                </a:gs>
                <a:gs pos="77000">
                  <a:srgbClr val="AF9DCD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18900000"/>
            </a:gra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5288280" y="1512570"/>
            <a:ext cx="7711440" cy="1524000"/>
            <a:chOff x="0" y="0"/>
            <a:chExt cx="10281920" cy="20320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81920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281920">
                  <a:moveTo>
                    <a:pt x="0" y="0"/>
                  </a:moveTo>
                  <a:lnTo>
                    <a:pt x="10281920" y="0"/>
                  </a:lnTo>
                  <a:lnTo>
                    <a:pt x="1028192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281920" cy="20701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0800"/>
                </a:lnSpc>
              </a:pPr>
              <a:r>
                <a:rPr lang="en-US" sz="90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CONTENTS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769870" y="4916805"/>
            <a:ext cx="793433" cy="69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66850" y="6212205"/>
            <a:ext cx="344519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4E4B22"/>
                </a:solidFill>
                <a:latin typeface="Arimo Bold"/>
                <a:ea typeface="Arimo Bold"/>
                <a:cs typeface="Arimo Bold"/>
                <a:sym typeface="Arimo Bold"/>
              </a:rPr>
              <a:t>Opening Impact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724650" y="4916805"/>
            <a:ext cx="793433" cy="69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421630" y="6212205"/>
            <a:ext cx="344519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4E4B22"/>
                </a:solidFill>
                <a:latin typeface="Arimo Bold"/>
                <a:ea typeface="Arimo Bold"/>
                <a:cs typeface="Arimo Bold"/>
                <a:sym typeface="Arimo Bold"/>
              </a:rPr>
              <a:t>Solution &amp; Journey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679430" y="4916805"/>
            <a:ext cx="793433" cy="69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376410" y="6212205"/>
            <a:ext cx="3445192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4E4B22"/>
                </a:solidFill>
                <a:latin typeface="Arimo Bold"/>
                <a:ea typeface="Arimo Bold"/>
                <a:cs typeface="Arimo Bold"/>
                <a:sym typeface="Arimo Bold"/>
              </a:rPr>
              <a:t>Market &amp; Economics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634210" y="4916805"/>
            <a:ext cx="793433" cy="69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331190" y="6212205"/>
            <a:ext cx="3445193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4E4B22"/>
                </a:solidFill>
                <a:latin typeface="Arimo Bold"/>
                <a:ea typeface="Arimo Bold"/>
                <a:cs typeface="Arimo Bold"/>
                <a:sym typeface="Arimo Bold"/>
              </a:rPr>
              <a:t>Vision &amp; Close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10313670"/>
            <a:chOff x="0" y="0"/>
            <a:chExt cx="24375110" cy="13751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13751561"/>
            </a:xfrm>
            <a:custGeom>
              <a:avLst/>
              <a:gdLst/>
              <a:ahLst/>
              <a:cxnLst/>
              <a:rect r="r" b="b" t="t" l="l"/>
              <a:pathLst>
                <a:path h="13751561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13751561"/>
                  </a:lnTo>
                  <a:lnTo>
                    <a:pt x="0" y="13751561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4434192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58202" y="4074795"/>
            <a:ext cx="16622078" cy="33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Opening Impact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64293" y="2023110"/>
            <a:ext cx="10559415" cy="161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1000" y="3581400"/>
            <a:ext cx="6858000" cy="914400"/>
            <a:chOff x="0" y="0"/>
            <a:chExt cx="91440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61925"/>
              <a:ext cx="914400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12"/>
                </a:lnSpc>
              </a:pPr>
              <a:r>
                <a:rPr lang="en-US" sz="72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ZapPay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1000" y="4648200"/>
            <a:ext cx="6629400" cy="609600"/>
            <a:chOff x="0" y="0"/>
            <a:chExt cx="88392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39200" cy="812800"/>
            </a:xfrm>
            <a:custGeom>
              <a:avLst/>
              <a:gdLst/>
              <a:ahLst/>
              <a:cxnLst/>
              <a:rect r="r" b="b" t="t" l="l"/>
              <a:pathLst>
                <a:path h="8128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839200" cy="850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52"/>
                </a:lnSpc>
              </a:pPr>
              <a:r>
                <a:rPr lang="en-US" sz="3600" b="true">
                  <a:solidFill>
                    <a:srgbClr val="3C354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Fueling India's Digital Drive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1000" y="5562600"/>
            <a:ext cx="6534150" cy="1143000"/>
            <a:chOff x="0" y="0"/>
            <a:chExt cx="87122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12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8712200">
                  <a:moveTo>
                    <a:pt x="0" y="0"/>
                  </a:moveTo>
                  <a:lnTo>
                    <a:pt x="8712200" y="0"/>
                  </a:lnTo>
                  <a:lnTo>
                    <a:pt x="8712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87122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Instant QR payments at petrol pumps, eliminating cash hassles, queues, and fraud.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372350" y="361950"/>
            <a:ext cx="38100" cy="9563100"/>
            <a:chOff x="0" y="0"/>
            <a:chExt cx="50800" cy="127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25400"/>
              <a:ext cx="50800" cy="12700000"/>
            </a:xfrm>
            <a:custGeom>
              <a:avLst/>
              <a:gdLst/>
              <a:ahLst/>
              <a:cxnLst/>
              <a:rect r="r" b="b" t="t" l="l"/>
              <a:pathLst>
                <a:path h="12700000" w="50800">
                  <a:moveTo>
                    <a:pt x="50800" y="0"/>
                  </a:moveTo>
                  <a:lnTo>
                    <a:pt x="50800" y="12700000"/>
                  </a:lnTo>
                  <a:lnTo>
                    <a:pt x="0" y="1270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039100" y="3086100"/>
            <a:ext cx="762000" cy="762000"/>
            <a:chOff x="0" y="0"/>
            <a:chExt cx="1016000" cy="101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416" y="0"/>
                    <a:pt x="1016000" y="227584"/>
                    <a:pt x="1016000" y="508000"/>
                  </a:cubicBezTo>
                  <a:cubicBezTo>
                    <a:pt x="1016000" y="788416"/>
                    <a:pt x="788416" y="1016000"/>
                    <a:pt x="508000" y="1016000"/>
                  </a:cubicBezTo>
                  <a:cubicBezTo>
                    <a:pt x="227584" y="1016000"/>
                    <a:pt x="0" y="788416"/>
                    <a:pt x="0" y="508000"/>
                  </a:cubicBezTo>
                  <a:cubicBezTo>
                    <a:pt x="0" y="227584"/>
                    <a:pt x="227584" y="0"/>
                    <a:pt x="508000" y="0"/>
                  </a:cubicBez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8253412" y="3276600"/>
            <a:ext cx="333375" cy="381000"/>
            <a:chOff x="0" y="0"/>
            <a:chExt cx="444500" cy="50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" y="-15828"/>
              <a:ext cx="444469" cy="539656"/>
            </a:xfrm>
            <a:custGeom>
              <a:avLst/>
              <a:gdLst/>
              <a:ahLst/>
              <a:cxnLst/>
              <a:rect r="r" b="b" t="t" l="l"/>
              <a:pathLst>
                <a:path h="539656" w="444469">
                  <a:moveTo>
                    <a:pt x="336153" y="6049"/>
                  </a:moveTo>
                  <a:cubicBezTo>
                    <a:pt x="347964" y="14558"/>
                    <a:pt x="352282" y="30052"/>
                    <a:pt x="346948" y="43514"/>
                  </a:cubicBezTo>
                  <a:lnTo>
                    <a:pt x="269224" y="238078"/>
                  </a:lnTo>
                  <a:lnTo>
                    <a:pt x="412734" y="238078"/>
                  </a:lnTo>
                  <a:cubicBezTo>
                    <a:pt x="426069" y="238078"/>
                    <a:pt x="438007" y="246460"/>
                    <a:pt x="442579" y="259033"/>
                  </a:cubicBezTo>
                  <a:cubicBezTo>
                    <a:pt x="447151" y="271606"/>
                    <a:pt x="443214" y="285703"/>
                    <a:pt x="433054" y="294212"/>
                  </a:cubicBezTo>
                  <a:lnTo>
                    <a:pt x="147304" y="532337"/>
                  </a:lnTo>
                  <a:cubicBezTo>
                    <a:pt x="136128" y="541608"/>
                    <a:pt x="120126" y="542116"/>
                    <a:pt x="108315" y="533607"/>
                  </a:cubicBezTo>
                  <a:cubicBezTo>
                    <a:pt x="96504" y="525098"/>
                    <a:pt x="92186" y="509604"/>
                    <a:pt x="97520" y="496142"/>
                  </a:cubicBezTo>
                  <a:lnTo>
                    <a:pt x="175244" y="301578"/>
                  </a:lnTo>
                  <a:lnTo>
                    <a:pt x="31734" y="301578"/>
                  </a:lnTo>
                  <a:cubicBezTo>
                    <a:pt x="18399" y="301578"/>
                    <a:pt x="6461" y="293196"/>
                    <a:pt x="1889" y="280623"/>
                  </a:cubicBezTo>
                  <a:cubicBezTo>
                    <a:pt x="-2683" y="268050"/>
                    <a:pt x="1254" y="253953"/>
                    <a:pt x="11414" y="245444"/>
                  </a:cubicBezTo>
                  <a:lnTo>
                    <a:pt x="297164" y="7319"/>
                  </a:lnTo>
                  <a:cubicBezTo>
                    <a:pt x="308340" y="-1952"/>
                    <a:pt x="324342" y="-2460"/>
                    <a:pt x="336153" y="6049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105900" y="3048000"/>
            <a:ext cx="8134350" cy="533400"/>
            <a:chOff x="0" y="0"/>
            <a:chExt cx="10845800" cy="711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845800" cy="711200"/>
            </a:xfrm>
            <a:custGeom>
              <a:avLst/>
              <a:gdLst/>
              <a:ahLst/>
              <a:cxnLst/>
              <a:rect r="r" b="b" t="t" l="l"/>
              <a:pathLst>
                <a:path h="711200" w="10845800">
                  <a:moveTo>
                    <a:pt x="0" y="0"/>
                  </a:moveTo>
                  <a:lnTo>
                    <a:pt x="10845800" y="0"/>
                  </a:lnTo>
                  <a:lnTo>
                    <a:pt x="108458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14300"/>
              <a:ext cx="108458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Zero-Wait Experience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05900" y="3619500"/>
            <a:ext cx="8096250" cy="381000"/>
            <a:chOff x="0" y="0"/>
            <a:chExt cx="10795000" cy="50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5000" cy="508000"/>
            </a:xfrm>
            <a:custGeom>
              <a:avLst/>
              <a:gdLst/>
              <a:ahLst/>
              <a:cxnLst/>
              <a:rect r="r" b="b" t="t" l="l"/>
              <a:pathLst>
                <a:path h="508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7950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Autopay convenience for a seamless drive-in and drive-out journey.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39100" y="4305300"/>
            <a:ext cx="762000" cy="762000"/>
            <a:chOff x="0" y="0"/>
            <a:chExt cx="1016000" cy="10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416" y="0"/>
                    <a:pt x="1016000" y="227584"/>
                    <a:pt x="1016000" y="508000"/>
                  </a:cubicBezTo>
                  <a:cubicBezTo>
                    <a:pt x="1016000" y="788416"/>
                    <a:pt x="788416" y="1016000"/>
                    <a:pt x="508000" y="1016000"/>
                  </a:cubicBezTo>
                  <a:cubicBezTo>
                    <a:pt x="227584" y="1016000"/>
                    <a:pt x="0" y="788416"/>
                    <a:pt x="0" y="508000"/>
                  </a:cubicBezTo>
                  <a:cubicBezTo>
                    <a:pt x="0" y="227584"/>
                    <a:pt x="227584" y="0"/>
                    <a:pt x="508000" y="0"/>
                  </a:cubicBez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8229600" y="4495800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105900" y="4305300"/>
            <a:ext cx="8972550" cy="533400"/>
            <a:chOff x="0" y="0"/>
            <a:chExt cx="119634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9634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963400">
                  <a:moveTo>
                    <a:pt x="0" y="0"/>
                  </a:moveTo>
                  <a:lnTo>
                    <a:pt x="11963400" y="0"/>
                  </a:lnTo>
                  <a:lnTo>
                    <a:pt x="11963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119634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Enhanced Security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05900" y="4838700"/>
            <a:ext cx="8934450" cy="762000"/>
            <a:chOff x="0" y="0"/>
            <a:chExt cx="11912600" cy="1016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9126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1912600">
                  <a:moveTo>
                    <a:pt x="0" y="0"/>
                  </a:moveTo>
                  <a:lnTo>
                    <a:pt x="11912600" y="0"/>
                  </a:lnTo>
                  <a:lnTo>
                    <a:pt x="119126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912600" cy="107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Vehicle-linked tracking and digital receipts for complete transparency and trust.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039100" y="5905500"/>
            <a:ext cx="762000" cy="762000"/>
            <a:chOff x="0" y="0"/>
            <a:chExt cx="1016000" cy="101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0" y="0"/>
                  </a:moveTo>
                  <a:cubicBezTo>
                    <a:pt x="788416" y="0"/>
                    <a:pt x="1016000" y="227584"/>
                    <a:pt x="1016000" y="508000"/>
                  </a:cubicBezTo>
                  <a:cubicBezTo>
                    <a:pt x="1016000" y="788416"/>
                    <a:pt x="788416" y="1016000"/>
                    <a:pt x="508000" y="1016000"/>
                  </a:cubicBezTo>
                  <a:cubicBezTo>
                    <a:pt x="227584" y="1016000"/>
                    <a:pt x="0" y="788416"/>
                    <a:pt x="0" y="508000"/>
                  </a:cubicBezTo>
                  <a:cubicBezTo>
                    <a:pt x="0" y="227584"/>
                    <a:pt x="227584" y="0"/>
                    <a:pt x="508000" y="0"/>
                  </a:cubicBez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8229600" y="6096000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105900" y="5905500"/>
            <a:ext cx="8972550" cy="533400"/>
            <a:chOff x="0" y="0"/>
            <a:chExt cx="11963400" cy="711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963400" cy="711200"/>
            </a:xfrm>
            <a:custGeom>
              <a:avLst/>
              <a:gdLst/>
              <a:ahLst/>
              <a:cxnLst/>
              <a:rect r="r" b="b" t="t" l="l"/>
              <a:pathLst>
                <a:path h="711200" w="11963400">
                  <a:moveTo>
                    <a:pt x="0" y="0"/>
                  </a:moveTo>
                  <a:lnTo>
                    <a:pt x="11963400" y="0"/>
                  </a:lnTo>
                  <a:lnTo>
                    <a:pt x="11963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119634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Scalable Pilot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105900" y="6438900"/>
            <a:ext cx="8934450" cy="426250"/>
            <a:chOff x="0" y="0"/>
            <a:chExt cx="11912600" cy="56833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912600" cy="568334"/>
            </a:xfrm>
            <a:custGeom>
              <a:avLst/>
              <a:gdLst/>
              <a:ahLst/>
              <a:cxnLst/>
              <a:rect r="r" b="b" t="t" l="l"/>
              <a:pathLst>
                <a:path h="568334" w="11912600">
                  <a:moveTo>
                    <a:pt x="0" y="0"/>
                  </a:moveTo>
                  <a:lnTo>
                    <a:pt x="11912600" y="0"/>
                  </a:lnTo>
                  <a:lnTo>
                    <a:pt x="11912600" y="568334"/>
                  </a:lnTo>
                  <a:lnTo>
                    <a:pt x="0" y="568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11912600" cy="625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Starting with a pilot across </a:t>
              </a:r>
              <a:r>
                <a:rPr lang="en-US" sz="21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10-20 pumps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81000" y="6477000"/>
            <a:ext cx="6534150" cy="1143000"/>
            <a:chOff x="0" y="0"/>
            <a:chExt cx="8712200" cy="1524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122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8712200">
                  <a:moveTo>
                    <a:pt x="0" y="0"/>
                  </a:moveTo>
                  <a:lnTo>
                    <a:pt x="8712200" y="0"/>
                  </a:lnTo>
                  <a:lnTo>
                    <a:pt x="87122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712200" cy="1581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Our vision: to digitize </a:t>
              </a: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85,000+ outlets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nationwide.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8125" y="381000"/>
            <a:ext cx="17811750" cy="685800"/>
            <a:chOff x="0" y="0"/>
            <a:chExt cx="237490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4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749000">
                  <a:moveTo>
                    <a:pt x="0" y="0"/>
                  </a:moveTo>
                  <a:lnTo>
                    <a:pt x="23749000" y="0"/>
                  </a:lnTo>
                  <a:lnTo>
                    <a:pt x="23749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37490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Fuel Retail Pain Points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1000" y="1524000"/>
            <a:ext cx="5543550" cy="8382000"/>
            <a:chOff x="0" y="0"/>
            <a:chExt cx="7391400" cy="1117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91400" cy="11176000"/>
            </a:xfrm>
            <a:custGeom>
              <a:avLst/>
              <a:gdLst/>
              <a:ahLst/>
              <a:cxnLst/>
              <a:rect r="r" b="b" t="t" l="l"/>
              <a:pathLst>
                <a:path h="11176000" w="7391400">
                  <a:moveTo>
                    <a:pt x="203200" y="0"/>
                  </a:moveTo>
                  <a:lnTo>
                    <a:pt x="7188200" y="0"/>
                  </a:lnTo>
                  <a:cubicBezTo>
                    <a:pt x="7300468" y="0"/>
                    <a:pt x="7391400" y="90932"/>
                    <a:pt x="7391400" y="203200"/>
                  </a:cubicBezTo>
                  <a:lnTo>
                    <a:pt x="7391400" y="10972800"/>
                  </a:lnTo>
                  <a:cubicBezTo>
                    <a:pt x="7391400" y="11085068"/>
                    <a:pt x="7300468" y="11176000"/>
                    <a:pt x="7188200" y="11176000"/>
                  </a:cubicBezTo>
                  <a:lnTo>
                    <a:pt x="203200" y="11176000"/>
                  </a:lnTo>
                  <a:cubicBezTo>
                    <a:pt x="90932" y="11176000"/>
                    <a:pt x="0" y="11085068"/>
                    <a:pt x="0" y="109728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D3B9D7">
                <a:alpha val="902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539900" y="1828800"/>
            <a:ext cx="1219200" cy="1219200"/>
            <a:chOff x="0" y="0"/>
            <a:chExt cx="1625600" cy="162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868513" y="2152650"/>
            <a:ext cx="571500" cy="571500"/>
            <a:chOff x="0" y="0"/>
            <a:chExt cx="762000" cy="76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  <a:moveTo>
                    <a:pt x="345313" y="178562"/>
                  </a:moveTo>
                  <a:lnTo>
                    <a:pt x="345313" y="381000"/>
                  </a:lnTo>
                  <a:cubicBezTo>
                    <a:pt x="345313" y="392938"/>
                    <a:pt x="351282" y="404114"/>
                    <a:pt x="361188" y="410718"/>
                  </a:cubicBezTo>
                  <a:lnTo>
                    <a:pt x="504063" y="505968"/>
                  </a:lnTo>
                  <a:cubicBezTo>
                    <a:pt x="520446" y="517017"/>
                    <a:pt x="542671" y="512572"/>
                    <a:pt x="553593" y="495935"/>
                  </a:cubicBezTo>
                  <a:cubicBezTo>
                    <a:pt x="564515" y="479298"/>
                    <a:pt x="560197" y="457327"/>
                    <a:pt x="543560" y="446405"/>
                  </a:cubicBezTo>
                  <a:lnTo>
                    <a:pt x="416560" y="361823"/>
                  </a:lnTo>
                  <a:lnTo>
                    <a:pt x="416560" y="178562"/>
                  </a:lnTo>
                  <a:cubicBezTo>
                    <a:pt x="416560" y="158750"/>
                    <a:pt x="400685" y="142875"/>
                    <a:pt x="380873" y="142875"/>
                  </a:cubicBezTo>
                  <a:cubicBezTo>
                    <a:pt x="361061" y="142875"/>
                    <a:pt x="345186" y="158750"/>
                    <a:pt x="345186" y="17856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120080" y="3276600"/>
            <a:ext cx="4057650" cy="533400"/>
            <a:chOff x="0" y="0"/>
            <a:chExt cx="54102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10200" cy="711200"/>
            </a:xfrm>
            <a:custGeom>
              <a:avLst/>
              <a:gdLst/>
              <a:ahLst/>
              <a:cxnLst/>
              <a:rect r="r" b="b" t="t" l="l"/>
              <a:pathLst>
                <a:path h="711200" w="5410200">
                  <a:moveTo>
                    <a:pt x="0" y="0"/>
                  </a:moveTo>
                  <a:lnTo>
                    <a:pt x="5410200" y="0"/>
                  </a:lnTo>
                  <a:lnTo>
                    <a:pt x="54102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54102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Operational Inefficiency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9125" y="3962400"/>
            <a:ext cx="5067300" cy="1188250"/>
            <a:chOff x="0" y="0"/>
            <a:chExt cx="6756400" cy="15843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56400" cy="1584334"/>
            </a:xfrm>
            <a:custGeom>
              <a:avLst/>
              <a:gdLst/>
              <a:ahLst/>
              <a:cxnLst/>
              <a:rect r="r" b="b" t="t" l="l"/>
              <a:pathLst>
                <a:path h="1584334" w="6756400">
                  <a:moveTo>
                    <a:pt x="0" y="0"/>
                  </a:moveTo>
                  <a:lnTo>
                    <a:pt x="6756400" y="0"/>
                  </a:lnTo>
                  <a:lnTo>
                    <a:pt x="6756400" y="1584334"/>
                  </a:lnTo>
                  <a:lnTo>
                    <a:pt x="0" y="1584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6756400" cy="1641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Drivers waste minutes counting change while staff handle soiled cash, causing queues that spill onto roads.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375201" y="1524000"/>
            <a:ext cx="5543550" cy="8382000"/>
            <a:chOff x="0" y="0"/>
            <a:chExt cx="7391400" cy="11176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91400" cy="11176000"/>
            </a:xfrm>
            <a:custGeom>
              <a:avLst/>
              <a:gdLst/>
              <a:ahLst/>
              <a:cxnLst/>
              <a:rect r="r" b="b" t="t" l="l"/>
              <a:pathLst>
                <a:path h="11176000" w="7391400">
                  <a:moveTo>
                    <a:pt x="203200" y="0"/>
                  </a:moveTo>
                  <a:lnTo>
                    <a:pt x="7188200" y="0"/>
                  </a:lnTo>
                  <a:cubicBezTo>
                    <a:pt x="7300468" y="0"/>
                    <a:pt x="7391400" y="90932"/>
                    <a:pt x="7391400" y="203200"/>
                  </a:cubicBezTo>
                  <a:lnTo>
                    <a:pt x="7391400" y="10972800"/>
                  </a:lnTo>
                  <a:cubicBezTo>
                    <a:pt x="7391400" y="11085068"/>
                    <a:pt x="7300468" y="11176000"/>
                    <a:pt x="7188200" y="11176000"/>
                  </a:cubicBezTo>
                  <a:lnTo>
                    <a:pt x="203200" y="11176000"/>
                  </a:lnTo>
                  <a:cubicBezTo>
                    <a:pt x="90932" y="11176000"/>
                    <a:pt x="0" y="11085068"/>
                    <a:pt x="0" y="109728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D3B9D7">
                <a:alpha val="902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534103" y="1828800"/>
            <a:ext cx="1219200" cy="1219200"/>
            <a:chOff x="0" y="0"/>
            <a:chExt cx="1625600" cy="162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8898434" y="2152650"/>
            <a:ext cx="500062" cy="571500"/>
          </a:xfrm>
          <a:custGeom>
            <a:avLst/>
            <a:gdLst/>
            <a:ahLst/>
            <a:cxnLst/>
            <a:rect r="r" b="b" t="t" l="l"/>
            <a:pathLst>
              <a:path h="571500" w="500062">
                <a:moveTo>
                  <a:pt x="0" y="0"/>
                </a:moveTo>
                <a:lnTo>
                  <a:pt x="500062" y="0"/>
                </a:lnTo>
                <a:lnTo>
                  <a:pt x="500062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609583" y="3276600"/>
            <a:ext cx="3067050" cy="533400"/>
            <a:chOff x="0" y="0"/>
            <a:chExt cx="4089400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89400" cy="711200"/>
            </a:xfrm>
            <a:custGeom>
              <a:avLst/>
              <a:gdLst/>
              <a:ahLst/>
              <a:cxnLst/>
              <a:rect r="r" b="b" t="t" l="l"/>
              <a:pathLst>
                <a:path h="711200" w="4089400">
                  <a:moveTo>
                    <a:pt x="0" y="0"/>
                  </a:moveTo>
                  <a:lnTo>
                    <a:pt x="4089400" y="0"/>
                  </a:lnTo>
                  <a:lnTo>
                    <a:pt x="4089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14300"/>
              <a:ext cx="40894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Revenue Leakage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13326" y="3962400"/>
            <a:ext cx="5067300" cy="1188250"/>
            <a:chOff x="0" y="0"/>
            <a:chExt cx="6756400" cy="15843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56400" cy="1584334"/>
            </a:xfrm>
            <a:custGeom>
              <a:avLst/>
              <a:gdLst/>
              <a:ahLst/>
              <a:cxnLst/>
              <a:rect r="r" b="b" t="t" l="l"/>
              <a:pathLst>
                <a:path h="1584334" w="6756400">
                  <a:moveTo>
                    <a:pt x="0" y="0"/>
                  </a:moveTo>
                  <a:lnTo>
                    <a:pt x="6756400" y="0"/>
                  </a:lnTo>
                  <a:lnTo>
                    <a:pt x="6756400" y="1584334"/>
                  </a:lnTo>
                  <a:lnTo>
                    <a:pt x="0" y="1584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756400" cy="1641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Shrinkage and pilferage silently erode the </a:t>
              </a:r>
              <a:r>
                <a:rPr lang="en-US" sz="2100" b="true">
                  <a:solidFill>
                    <a:srgbClr val="1725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3-5%</a:t>
              </a:r>
              <a:r>
                <a:rPr lang="en-US" sz="21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dealer margin, threatening profitability.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369700" y="1524000"/>
            <a:ext cx="5543550" cy="8382000"/>
            <a:chOff x="0" y="0"/>
            <a:chExt cx="7391400" cy="11176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91400" cy="11176000"/>
            </a:xfrm>
            <a:custGeom>
              <a:avLst/>
              <a:gdLst/>
              <a:ahLst/>
              <a:cxnLst/>
              <a:rect r="r" b="b" t="t" l="l"/>
              <a:pathLst>
                <a:path h="11176000" w="7391400">
                  <a:moveTo>
                    <a:pt x="203200" y="0"/>
                  </a:moveTo>
                  <a:lnTo>
                    <a:pt x="7188200" y="0"/>
                  </a:lnTo>
                  <a:cubicBezTo>
                    <a:pt x="7300468" y="0"/>
                    <a:pt x="7391400" y="90932"/>
                    <a:pt x="7391400" y="203200"/>
                  </a:cubicBezTo>
                  <a:lnTo>
                    <a:pt x="7391400" y="10972800"/>
                  </a:lnTo>
                  <a:cubicBezTo>
                    <a:pt x="7391400" y="11085068"/>
                    <a:pt x="7300468" y="11176000"/>
                    <a:pt x="7188200" y="11176000"/>
                  </a:cubicBezTo>
                  <a:lnTo>
                    <a:pt x="203200" y="11176000"/>
                  </a:lnTo>
                  <a:cubicBezTo>
                    <a:pt x="90932" y="11176000"/>
                    <a:pt x="0" y="11085068"/>
                    <a:pt x="0" y="109728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D3B9D7">
                <a:alpha val="902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528601" y="1828800"/>
            <a:ext cx="1219200" cy="1219200"/>
            <a:chOff x="0" y="0"/>
            <a:chExt cx="1625600" cy="1625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928651" y="2152650"/>
            <a:ext cx="428625" cy="571500"/>
            <a:chOff x="0" y="0"/>
            <a:chExt cx="571500" cy="762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3749" y="0"/>
              <a:ext cx="524002" cy="762000"/>
            </a:xfrm>
            <a:custGeom>
              <a:avLst/>
              <a:gdLst/>
              <a:ahLst/>
              <a:cxnLst/>
              <a:rect r="r" b="b" t="t" l="l"/>
              <a:pathLst>
                <a:path h="762000" w="524002">
                  <a:moveTo>
                    <a:pt x="0" y="95250"/>
                  </a:moveTo>
                  <a:cubicBezTo>
                    <a:pt x="0" y="42672"/>
                    <a:pt x="42799" y="0"/>
                    <a:pt x="95250" y="0"/>
                  </a:cubicBezTo>
                  <a:lnTo>
                    <a:pt x="428752" y="0"/>
                  </a:lnTo>
                  <a:cubicBezTo>
                    <a:pt x="481330" y="0"/>
                    <a:pt x="524002" y="42672"/>
                    <a:pt x="524002" y="95250"/>
                  </a:cubicBezTo>
                  <a:lnTo>
                    <a:pt x="524002" y="666750"/>
                  </a:lnTo>
                  <a:cubicBezTo>
                    <a:pt x="524002" y="719328"/>
                    <a:pt x="481330" y="762000"/>
                    <a:pt x="428752" y="762000"/>
                  </a:cubicBezTo>
                  <a:lnTo>
                    <a:pt x="95250" y="762000"/>
                  </a:lnTo>
                  <a:cubicBezTo>
                    <a:pt x="42672" y="762000"/>
                    <a:pt x="0" y="719328"/>
                    <a:pt x="0" y="666750"/>
                  </a:cubicBezTo>
                  <a:lnTo>
                    <a:pt x="0" y="95250"/>
                  </a:lnTo>
                  <a:close/>
                  <a:moveTo>
                    <a:pt x="95250" y="95250"/>
                  </a:moveTo>
                  <a:lnTo>
                    <a:pt x="95250" y="547751"/>
                  </a:lnTo>
                  <a:lnTo>
                    <a:pt x="428752" y="547751"/>
                  </a:lnTo>
                  <a:lnTo>
                    <a:pt x="428752" y="95250"/>
                  </a:lnTo>
                  <a:lnTo>
                    <a:pt x="95250" y="95250"/>
                  </a:lnTo>
                  <a:close/>
                  <a:moveTo>
                    <a:pt x="262001" y="702437"/>
                  </a:moveTo>
                  <a:cubicBezTo>
                    <a:pt x="288290" y="702437"/>
                    <a:pt x="309626" y="681101"/>
                    <a:pt x="309626" y="654812"/>
                  </a:cubicBezTo>
                  <a:cubicBezTo>
                    <a:pt x="309626" y="628523"/>
                    <a:pt x="288290" y="607187"/>
                    <a:pt x="262001" y="607187"/>
                  </a:cubicBezTo>
                  <a:cubicBezTo>
                    <a:pt x="235712" y="607187"/>
                    <a:pt x="214376" y="628523"/>
                    <a:pt x="214376" y="654812"/>
                  </a:cubicBezTo>
                  <a:cubicBezTo>
                    <a:pt x="214376" y="681101"/>
                    <a:pt x="235712" y="702437"/>
                    <a:pt x="262001" y="702437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147304" y="3276600"/>
            <a:ext cx="1981200" cy="533400"/>
            <a:chOff x="0" y="0"/>
            <a:chExt cx="2641600" cy="711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41600" cy="711200"/>
            </a:xfrm>
            <a:custGeom>
              <a:avLst/>
              <a:gdLst/>
              <a:ahLst/>
              <a:cxnLst/>
              <a:rect r="r" b="b" t="t" l="l"/>
              <a:pathLst>
                <a:path h="711200" w="2641600">
                  <a:moveTo>
                    <a:pt x="0" y="0"/>
                  </a:moveTo>
                  <a:lnTo>
                    <a:pt x="2641600" y="0"/>
                  </a:lnTo>
                  <a:lnTo>
                    <a:pt x="26416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14300"/>
              <a:ext cx="26416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Digital Gap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07826" y="3962400"/>
            <a:ext cx="5067300" cy="1188250"/>
            <a:chOff x="0" y="0"/>
            <a:chExt cx="6756400" cy="158433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56400" cy="1584334"/>
            </a:xfrm>
            <a:custGeom>
              <a:avLst/>
              <a:gdLst/>
              <a:ahLst/>
              <a:cxnLst/>
              <a:rect r="r" b="b" t="t" l="l"/>
              <a:pathLst>
                <a:path h="1584334" w="6756400">
                  <a:moveTo>
                    <a:pt x="0" y="0"/>
                  </a:moveTo>
                  <a:lnTo>
                    <a:pt x="6756400" y="0"/>
                  </a:lnTo>
                  <a:lnTo>
                    <a:pt x="6756400" y="1584334"/>
                  </a:lnTo>
                  <a:lnTo>
                    <a:pt x="0" y="1584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6756400" cy="1641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Urban pumps selling </a:t>
              </a: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8,000-20,000 litres daily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lack swift digital rails, which can be automated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22101" y="5143500"/>
            <a:ext cx="5067300" cy="1188250"/>
            <a:chOff x="0" y="0"/>
            <a:chExt cx="6756400" cy="15843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56400" cy="1584334"/>
            </a:xfrm>
            <a:custGeom>
              <a:avLst/>
              <a:gdLst/>
              <a:ahLst/>
              <a:cxnLst/>
              <a:rect r="r" b="b" t="t" l="l"/>
              <a:pathLst>
                <a:path h="1584334" w="6756400">
                  <a:moveTo>
                    <a:pt x="0" y="0"/>
                  </a:moveTo>
                  <a:lnTo>
                    <a:pt x="6756400" y="0"/>
                  </a:lnTo>
                  <a:lnTo>
                    <a:pt x="6756400" y="1584334"/>
                  </a:lnTo>
                  <a:lnTo>
                    <a:pt x="0" y="1584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756400" cy="1641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UPIs and QR payments are often obstructed by the internet connections, leading to delays.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10313670"/>
            <a:chOff x="0" y="0"/>
            <a:chExt cx="24375110" cy="13751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13751561"/>
            </a:xfrm>
            <a:custGeom>
              <a:avLst/>
              <a:gdLst/>
              <a:ahLst/>
              <a:cxnLst/>
              <a:rect r="r" b="b" t="t" l="l"/>
              <a:pathLst>
                <a:path h="13751561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13751561"/>
                  </a:lnTo>
                  <a:lnTo>
                    <a:pt x="0" y="13751561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4434192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58202" y="4074795"/>
            <a:ext cx="16622078" cy="33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Solution &amp; Journey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64293" y="2023110"/>
            <a:ext cx="10559415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8125" y="2971800"/>
            <a:ext cx="17811750" cy="685800"/>
            <a:chOff x="0" y="0"/>
            <a:chExt cx="237490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4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749000">
                  <a:moveTo>
                    <a:pt x="0" y="0"/>
                  </a:moveTo>
                  <a:lnTo>
                    <a:pt x="23749000" y="0"/>
                  </a:lnTo>
                  <a:lnTo>
                    <a:pt x="23749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37490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6-Step Autopay Journey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3000" y="4267200"/>
            <a:ext cx="1219200" cy="1219200"/>
            <a:chOff x="0" y="0"/>
            <a:chExt cx="1625600" cy="1625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4267200"/>
            <a:ext cx="1447800" cy="1219200"/>
            <a:chOff x="0" y="0"/>
            <a:chExt cx="1930400" cy="162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30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30400" cy="16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sz="36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2228" y="5638800"/>
            <a:ext cx="1200150" cy="381000"/>
            <a:chOff x="0" y="0"/>
            <a:chExt cx="1600200" cy="50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0200" cy="508000"/>
            </a:xfrm>
            <a:custGeom>
              <a:avLst/>
              <a:gdLst/>
              <a:ahLst/>
              <a:cxnLst/>
              <a:rect r="r" b="b" t="t" l="l"/>
              <a:pathLst>
                <a:path h="508000" w="1600200">
                  <a:moveTo>
                    <a:pt x="0" y="0"/>
                  </a:moveTo>
                  <a:lnTo>
                    <a:pt x="1600200" y="0"/>
                  </a:lnTo>
                  <a:lnTo>
                    <a:pt x="1600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002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Register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1455" y="6019800"/>
            <a:ext cx="2114550" cy="304800"/>
            <a:chOff x="0" y="0"/>
            <a:chExt cx="2819400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19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819400">
                  <a:moveTo>
                    <a:pt x="0" y="0"/>
                  </a:moveTo>
                  <a:lnTo>
                    <a:pt x="2819400" y="0"/>
                  </a:lnTo>
                  <a:lnTo>
                    <a:pt x="2819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819400" cy="44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Customer onboards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78485" y="4876800"/>
            <a:ext cx="819150" cy="76200"/>
            <a:chOff x="0" y="0"/>
            <a:chExt cx="1092200" cy="10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22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4099620" y="4267200"/>
            <a:ext cx="1219200" cy="1219200"/>
            <a:chOff x="0" y="0"/>
            <a:chExt cx="1625600" cy="1625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985320" y="4267200"/>
            <a:ext cx="1447800" cy="1219200"/>
            <a:chOff x="0" y="0"/>
            <a:chExt cx="1930400" cy="162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30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30400" cy="16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sz="36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901083" y="5638800"/>
            <a:ext cx="1619250" cy="381000"/>
            <a:chOff x="0" y="0"/>
            <a:chExt cx="2159000" cy="50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9000" cy="508000"/>
            </a:xfrm>
            <a:custGeom>
              <a:avLst/>
              <a:gdLst/>
              <a:ahLst/>
              <a:cxnLst/>
              <a:rect r="r" b="b" t="t" l="l"/>
              <a:pathLst>
                <a:path h="508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1590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Receive QR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638550" y="6019800"/>
            <a:ext cx="2313282" cy="304800"/>
            <a:chOff x="0" y="0"/>
            <a:chExt cx="3084376" cy="40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84376" cy="406400"/>
            </a:xfrm>
            <a:custGeom>
              <a:avLst/>
              <a:gdLst/>
              <a:ahLst/>
              <a:cxnLst/>
              <a:rect r="r" b="b" t="t" l="l"/>
              <a:pathLst>
                <a:path h="406400" w="3084376">
                  <a:moveTo>
                    <a:pt x="0" y="0"/>
                  </a:moveTo>
                  <a:lnTo>
                    <a:pt x="3084376" y="0"/>
                  </a:lnTo>
                  <a:lnTo>
                    <a:pt x="3084376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084376" cy="454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3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Tamper-proof sticker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33170" y="4838700"/>
            <a:ext cx="819150" cy="76200"/>
            <a:chOff x="0" y="0"/>
            <a:chExt cx="1092200" cy="10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22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7056238" y="4267200"/>
            <a:ext cx="1219200" cy="1219200"/>
            <a:chOff x="0" y="0"/>
            <a:chExt cx="1625600" cy="1625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941938" y="4267200"/>
            <a:ext cx="1447800" cy="1219200"/>
            <a:chOff x="0" y="0"/>
            <a:chExt cx="1930400" cy="1625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30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930400" cy="16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sz="36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80374" y="5638800"/>
            <a:ext cx="762000" cy="381000"/>
            <a:chOff x="0" y="0"/>
            <a:chExt cx="1016000" cy="508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6000" cy="508000"/>
            </a:xfrm>
            <a:custGeom>
              <a:avLst/>
              <a:gdLst/>
              <a:ahLst/>
              <a:cxnLst/>
              <a:rect r="r" b="b" t="t" l="l"/>
              <a:pathLst>
                <a:path h="508000" w="1016000">
                  <a:moveTo>
                    <a:pt x="0" y="0"/>
                  </a:moveTo>
                  <a:lnTo>
                    <a:pt x="1016000" y="0"/>
                  </a:lnTo>
                  <a:lnTo>
                    <a:pt x="1016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0160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624042" y="6019800"/>
            <a:ext cx="2076450" cy="304800"/>
            <a:chOff x="0" y="0"/>
            <a:chExt cx="2768600" cy="406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68600" cy="406400"/>
            </a:xfrm>
            <a:custGeom>
              <a:avLst/>
              <a:gdLst/>
              <a:ahLst/>
              <a:cxnLst/>
              <a:rect r="r" b="b" t="t" l="l"/>
              <a:pathLst>
                <a:path h="406400" w="2768600">
                  <a:moveTo>
                    <a:pt x="0" y="0"/>
                  </a:moveTo>
                  <a:lnTo>
                    <a:pt x="2768600" y="0"/>
                  </a:lnTo>
                  <a:lnTo>
                    <a:pt x="27686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768600" cy="44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Operator scans QR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789788" y="4876800"/>
            <a:ext cx="819150" cy="76200"/>
            <a:chOff x="0" y="0"/>
            <a:chExt cx="1092200" cy="101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22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012859" y="4267200"/>
            <a:ext cx="1219200" cy="1219200"/>
            <a:chOff x="0" y="0"/>
            <a:chExt cx="1625600" cy="1625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898559" y="4267200"/>
            <a:ext cx="1447800" cy="1219200"/>
            <a:chOff x="0" y="0"/>
            <a:chExt cx="1930400" cy="1625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30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930400" cy="16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sz="36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903620" y="5638800"/>
            <a:ext cx="1428750" cy="381000"/>
            <a:chOff x="0" y="0"/>
            <a:chExt cx="1905000" cy="5080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905000" cy="508000"/>
            </a:xfrm>
            <a:custGeom>
              <a:avLst/>
              <a:gdLst/>
              <a:ahLst/>
              <a:cxnLst/>
              <a:rect r="r" b="b" t="t" l="l"/>
              <a:pathLst>
                <a:path h="5080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19050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Enter Fuel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618762" y="6019800"/>
            <a:ext cx="2000250" cy="304800"/>
            <a:chOff x="0" y="0"/>
            <a:chExt cx="2667000" cy="406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67000" cy="406400"/>
            </a:xfrm>
            <a:custGeom>
              <a:avLst/>
              <a:gdLst/>
              <a:ahLst/>
              <a:cxnLst/>
              <a:rect r="r" b="b" t="t" l="l"/>
              <a:pathLst>
                <a:path h="4064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667000" cy="44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Select type &amp; litres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746409" y="4876800"/>
            <a:ext cx="819150" cy="76200"/>
            <a:chOff x="0" y="0"/>
            <a:chExt cx="1092200" cy="1016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22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2969478" y="4267200"/>
            <a:ext cx="1219200" cy="1219200"/>
            <a:chOff x="0" y="0"/>
            <a:chExt cx="1625600" cy="1625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A95EA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2855178" y="4267200"/>
            <a:ext cx="1447800" cy="1219200"/>
            <a:chOff x="0" y="0"/>
            <a:chExt cx="1930400" cy="1625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930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930400" cy="16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sz="36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30770" y="5638800"/>
            <a:ext cx="1504950" cy="381000"/>
            <a:chOff x="0" y="0"/>
            <a:chExt cx="2006600" cy="508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06600" cy="508000"/>
            </a:xfrm>
            <a:custGeom>
              <a:avLst/>
              <a:gdLst/>
              <a:ahLst/>
              <a:cxnLst/>
              <a:rect r="r" b="b" t="t" l="l"/>
              <a:pathLst>
                <a:path h="508000" w="2006600">
                  <a:moveTo>
                    <a:pt x="0" y="0"/>
                  </a:moveTo>
                  <a:lnTo>
                    <a:pt x="2006600" y="0"/>
                  </a:lnTo>
                  <a:lnTo>
                    <a:pt x="20066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20066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Auto-Debit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619434" y="6019800"/>
            <a:ext cx="1924050" cy="304800"/>
            <a:chOff x="0" y="0"/>
            <a:chExt cx="2565400" cy="406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5400" cy="406400"/>
            </a:xfrm>
            <a:custGeom>
              <a:avLst/>
              <a:gdLst/>
              <a:ahLst/>
              <a:cxnLst/>
              <a:rect r="r" b="b" t="t" l="l"/>
              <a:pathLst>
                <a:path h="406400" w="2565400">
                  <a:moveTo>
                    <a:pt x="0" y="0"/>
                  </a:moveTo>
                  <a:lnTo>
                    <a:pt x="2565400" y="0"/>
                  </a:lnTo>
                  <a:lnTo>
                    <a:pt x="25654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2565400" cy="44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Instant bank debit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703028" y="4876800"/>
            <a:ext cx="819150" cy="76200"/>
            <a:chOff x="0" y="0"/>
            <a:chExt cx="1092200" cy="1016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2200" cy="101600"/>
            </a:xfrm>
            <a:custGeom>
              <a:avLst/>
              <a:gdLst/>
              <a:ahLst/>
              <a:cxnLst/>
              <a:rect r="r" b="b" t="t" l="l"/>
              <a:pathLst>
                <a:path h="101600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5926097" y="4267200"/>
            <a:ext cx="1219200" cy="1219200"/>
            <a:chOff x="0" y="0"/>
            <a:chExt cx="1625600" cy="16256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6256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625600">
                  <a:moveTo>
                    <a:pt x="812800" y="0"/>
                  </a:moveTo>
                  <a:cubicBezTo>
                    <a:pt x="1261364" y="0"/>
                    <a:pt x="1625600" y="364236"/>
                    <a:pt x="1625600" y="812800"/>
                  </a:cubicBezTo>
                  <a:cubicBezTo>
                    <a:pt x="1625600" y="1261364"/>
                    <a:pt x="1261364" y="1625600"/>
                    <a:pt x="812800" y="1625600"/>
                  </a:cubicBezTo>
                  <a:cubicBezTo>
                    <a:pt x="364236" y="1625600"/>
                    <a:pt x="0" y="1261364"/>
                    <a:pt x="0" y="812800"/>
                  </a:cubicBezTo>
                  <a:cubicBezTo>
                    <a:pt x="0" y="364236"/>
                    <a:pt x="364236" y="0"/>
                    <a:pt x="8128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5811797" y="4267200"/>
            <a:ext cx="1447800" cy="1219200"/>
            <a:chOff x="0" y="0"/>
            <a:chExt cx="1930400" cy="1625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930400" cy="1625600"/>
            </a:xfrm>
            <a:custGeom>
              <a:avLst/>
              <a:gdLst/>
              <a:ahLst/>
              <a:cxnLst/>
              <a:rect r="r" b="b" t="t" l="l"/>
              <a:pathLst>
                <a:path h="1625600" w="1930400">
                  <a:moveTo>
                    <a:pt x="0" y="0"/>
                  </a:moveTo>
                  <a:lnTo>
                    <a:pt x="1930400" y="0"/>
                  </a:lnTo>
                  <a:lnTo>
                    <a:pt x="1930400" y="1625600"/>
                  </a:lnTo>
                  <a:lnTo>
                    <a:pt x="0" y="1625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930400" cy="1663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52"/>
                </a:lnSpc>
              </a:pPr>
              <a:r>
                <a:rPr lang="en-US" sz="36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6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987117" y="5638800"/>
            <a:ext cx="1104900" cy="381000"/>
            <a:chOff x="0" y="0"/>
            <a:chExt cx="1473200" cy="508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73200" cy="508000"/>
            </a:xfrm>
            <a:custGeom>
              <a:avLst/>
              <a:gdLst/>
              <a:ahLst/>
              <a:cxnLst/>
              <a:rect r="r" b="b" t="t" l="l"/>
              <a:pathLst>
                <a:path h="5080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14732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Receipt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538251" y="6019800"/>
            <a:ext cx="2000250" cy="304800"/>
            <a:chOff x="0" y="0"/>
            <a:chExt cx="2667000" cy="406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67000" cy="406400"/>
            </a:xfrm>
            <a:custGeom>
              <a:avLst/>
              <a:gdLst/>
              <a:ahLst/>
              <a:cxnLst/>
              <a:rect r="r" b="b" t="t" l="l"/>
              <a:pathLst>
                <a:path h="4064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667000" cy="44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Digital receipt sent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314325" y="6934200"/>
            <a:ext cx="17659350" cy="426250"/>
            <a:chOff x="0" y="0"/>
            <a:chExt cx="23545800" cy="56833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3545800" cy="568334"/>
            </a:xfrm>
            <a:custGeom>
              <a:avLst/>
              <a:gdLst/>
              <a:ahLst/>
              <a:cxnLst/>
              <a:rect r="r" b="b" t="t" l="l"/>
              <a:pathLst>
                <a:path h="568334" w="23545800">
                  <a:moveTo>
                    <a:pt x="0" y="0"/>
                  </a:moveTo>
                  <a:lnTo>
                    <a:pt x="23545800" y="0"/>
                  </a:lnTo>
                  <a:lnTo>
                    <a:pt x="23545800" y="568334"/>
                  </a:lnTo>
                  <a:lnTo>
                    <a:pt x="0" y="5683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23545800" cy="6254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The entire loop is completed in under </a:t>
              </a:r>
              <a:r>
                <a:rPr lang="en-US" sz="2100" b="true">
                  <a:solidFill>
                    <a:srgbClr val="00BF6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15 seconds</a:t>
              </a:r>
              <a:r>
                <a:rPr lang="en-US" sz="21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, with no POS hardware and zero cash touch, on fully RBI-compliant UPI rails.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8125" y="1750629"/>
            <a:ext cx="17811750" cy="685800"/>
            <a:chOff x="0" y="0"/>
            <a:chExt cx="237490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490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749000">
                  <a:moveTo>
                    <a:pt x="0" y="0"/>
                  </a:moveTo>
                  <a:lnTo>
                    <a:pt x="23749000" y="0"/>
                  </a:lnTo>
                  <a:lnTo>
                    <a:pt x="23749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37490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Go-To-Market Strategy: From Pilot to National Rollout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1000" y="5346481"/>
            <a:ext cx="17526000" cy="76200"/>
            <a:chOff x="0" y="0"/>
            <a:chExt cx="23368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68000" cy="101600"/>
            </a:xfrm>
            <a:custGeom>
              <a:avLst/>
              <a:gdLst/>
              <a:ahLst/>
              <a:cxnLst/>
              <a:rect r="r" b="b" t="t" l="l"/>
              <a:pathLst>
                <a:path h="101600" w="23368000">
                  <a:moveTo>
                    <a:pt x="0" y="0"/>
                  </a:moveTo>
                  <a:lnTo>
                    <a:pt x="23368000" y="0"/>
                  </a:lnTo>
                  <a:lnTo>
                    <a:pt x="23368000" y="101600"/>
                  </a:lnTo>
                  <a:lnTo>
                    <a:pt x="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B9D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007014" y="3485822"/>
            <a:ext cx="381000" cy="381000"/>
            <a:chOff x="0" y="0"/>
            <a:chExt cx="508000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341" y="0"/>
                    <a:pt x="406400" y="91059"/>
                    <a:pt x="406400" y="203200"/>
                  </a:cubicBezTo>
                  <a:cubicBezTo>
                    <a:pt x="406400" y="315341"/>
                    <a:pt x="315341" y="406400"/>
                    <a:pt x="203200" y="406400"/>
                  </a:cubicBezTo>
                  <a:cubicBezTo>
                    <a:pt x="91059" y="406400"/>
                    <a:pt x="0" y="315341"/>
                    <a:pt x="0" y="203200"/>
                  </a:cubicBez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254000" y="50800"/>
                  </a:lnTo>
                  <a:lnTo>
                    <a:pt x="254000" y="0"/>
                  </a:lnTo>
                  <a:cubicBezTo>
                    <a:pt x="394208" y="0"/>
                    <a:pt x="508000" y="113792"/>
                    <a:pt x="508000" y="254000"/>
                  </a:cubicBezTo>
                  <a:lnTo>
                    <a:pt x="457200" y="254000"/>
                  </a:lnTo>
                  <a:lnTo>
                    <a:pt x="508000" y="254000"/>
                  </a:lnTo>
                  <a:cubicBezTo>
                    <a:pt x="508000" y="394208"/>
                    <a:pt x="394208" y="508000"/>
                    <a:pt x="254000" y="508000"/>
                  </a:cubicBezTo>
                  <a:lnTo>
                    <a:pt x="254000" y="457200"/>
                  </a:lnTo>
                  <a:lnTo>
                    <a:pt x="254000" y="508000"/>
                  </a:lnTo>
                  <a:cubicBezTo>
                    <a:pt x="113792" y="508000"/>
                    <a:pt x="0" y="394208"/>
                    <a:pt x="0" y="254000"/>
                  </a:cubicBezTo>
                  <a:lnTo>
                    <a:pt x="50800" y="254000"/>
                  </a:lnTo>
                  <a:lnTo>
                    <a:pt x="0" y="254000"/>
                  </a:lnTo>
                  <a:cubicBezTo>
                    <a:pt x="0" y="113792"/>
                    <a:pt x="113792" y="0"/>
                    <a:pt x="254000" y="0"/>
                  </a:cubicBezTo>
                  <a:lnTo>
                    <a:pt x="254000" y="50800"/>
                  </a:lnTo>
                  <a:lnTo>
                    <a:pt x="254000" y="0"/>
                  </a:lnTo>
                  <a:moveTo>
                    <a:pt x="254000" y="101600"/>
                  </a:moveTo>
                  <a:cubicBezTo>
                    <a:pt x="169926" y="101600"/>
                    <a:pt x="101600" y="169926"/>
                    <a:pt x="101600" y="254000"/>
                  </a:cubicBezTo>
                  <a:cubicBezTo>
                    <a:pt x="101600" y="338074"/>
                    <a:pt x="169926" y="406400"/>
                    <a:pt x="254000" y="406400"/>
                  </a:cubicBezTo>
                  <a:cubicBezTo>
                    <a:pt x="338074" y="406400"/>
                    <a:pt x="406400" y="338074"/>
                    <a:pt x="406400" y="254000"/>
                  </a:cubicBezTo>
                  <a:cubicBezTo>
                    <a:pt x="406400" y="169926"/>
                    <a:pt x="338074" y="101600"/>
                    <a:pt x="254000" y="1016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7474" y="4475108"/>
            <a:ext cx="2152650" cy="457200"/>
            <a:chOff x="0" y="0"/>
            <a:chExt cx="28702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70200" cy="609600"/>
            </a:xfrm>
            <a:custGeom>
              <a:avLst/>
              <a:gdLst/>
              <a:ahLst/>
              <a:cxnLst/>
              <a:rect r="r" b="b" t="t" l="l"/>
              <a:pathLst>
                <a:path h="609600" w="2870200">
                  <a:moveTo>
                    <a:pt x="0" y="0"/>
                  </a:moveTo>
                  <a:lnTo>
                    <a:pt x="2870200" y="0"/>
                  </a:lnTo>
                  <a:lnTo>
                    <a:pt x="28702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28702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Phase 1: Pilot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6364" y="6018222"/>
            <a:ext cx="3162300" cy="1247318"/>
            <a:chOff x="0" y="0"/>
            <a:chExt cx="4216400" cy="16630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16400" cy="1663091"/>
            </a:xfrm>
            <a:custGeom>
              <a:avLst/>
              <a:gdLst/>
              <a:ahLst/>
              <a:cxnLst/>
              <a:rect r="r" b="b" t="t" l="l"/>
              <a:pathLst>
                <a:path h="1663091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1663091"/>
                  </a:lnTo>
                  <a:lnTo>
                    <a:pt x="0" y="16630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16400" cy="17011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Test</a:t>
              </a: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in </a:t>
              </a:r>
              <a:r>
                <a:rPr lang="en-US" sz="18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10-20 pumps</a:t>
              </a: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in Chhattisgarh and onboard at least 100 customers 1</a:t>
              </a: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st</a:t>
              </a: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month 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838888" y="3485822"/>
            <a:ext cx="381000" cy="381000"/>
            <a:chOff x="0" y="0"/>
            <a:chExt cx="508000" cy="50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341" y="0"/>
                    <a:pt x="406400" y="91059"/>
                    <a:pt x="406400" y="203200"/>
                  </a:cubicBezTo>
                  <a:cubicBezTo>
                    <a:pt x="406400" y="315341"/>
                    <a:pt x="315341" y="406400"/>
                    <a:pt x="203200" y="406400"/>
                  </a:cubicBezTo>
                  <a:cubicBezTo>
                    <a:pt x="91059" y="406400"/>
                    <a:pt x="0" y="315341"/>
                    <a:pt x="0" y="203200"/>
                  </a:cubicBez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254000" y="50800"/>
                  </a:lnTo>
                  <a:lnTo>
                    <a:pt x="254000" y="0"/>
                  </a:lnTo>
                  <a:cubicBezTo>
                    <a:pt x="394208" y="0"/>
                    <a:pt x="508000" y="113792"/>
                    <a:pt x="508000" y="254000"/>
                  </a:cubicBezTo>
                  <a:lnTo>
                    <a:pt x="457200" y="254000"/>
                  </a:lnTo>
                  <a:lnTo>
                    <a:pt x="508000" y="254000"/>
                  </a:lnTo>
                  <a:cubicBezTo>
                    <a:pt x="508000" y="394208"/>
                    <a:pt x="394208" y="508000"/>
                    <a:pt x="254000" y="508000"/>
                  </a:cubicBezTo>
                  <a:lnTo>
                    <a:pt x="254000" y="457200"/>
                  </a:lnTo>
                  <a:lnTo>
                    <a:pt x="254000" y="508000"/>
                  </a:lnTo>
                  <a:cubicBezTo>
                    <a:pt x="113792" y="508000"/>
                    <a:pt x="0" y="394208"/>
                    <a:pt x="0" y="254000"/>
                  </a:cubicBezTo>
                  <a:lnTo>
                    <a:pt x="50800" y="254000"/>
                  </a:lnTo>
                  <a:lnTo>
                    <a:pt x="0" y="254000"/>
                  </a:lnTo>
                  <a:cubicBezTo>
                    <a:pt x="0" y="113792"/>
                    <a:pt x="113792" y="0"/>
                    <a:pt x="254000" y="0"/>
                  </a:cubicBezTo>
                  <a:lnTo>
                    <a:pt x="254000" y="50800"/>
                  </a:lnTo>
                  <a:lnTo>
                    <a:pt x="254000" y="0"/>
                  </a:lnTo>
                  <a:moveTo>
                    <a:pt x="254000" y="101600"/>
                  </a:moveTo>
                  <a:cubicBezTo>
                    <a:pt x="169926" y="101600"/>
                    <a:pt x="101600" y="169926"/>
                    <a:pt x="101600" y="254000"/>
                  </a:cubicBezTo>
                  <a:cubicBezTo>
                    <a:pt x="101600" y="338074"/>
                    <a:pt x="169926" y="406400"/>
                    <a:pt x="254000" y="406400"/>
                  </a:cubicBezTo>
                  <a:cubicBezTo>
                    <a:pt x="338074" y="406400"/>
                    <a:pt x="406400" y="338074"/>
                    <a:pt x="406400" y="254000"/>
                  </a:cubicBezTo>
                  <a:cubicBezTo>
                    <a:pt x="406400" y="169926"/>
                    <a:pt x="338074" y="101600"/>
                    <a:pt x="254000" y="1016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449223" y="4475108"/>
            <a:ext cx="3028950" cy="457200"/>
            <a:chOff x="0" y="0"/>
            <a:chExt cx="40386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38600" cy="609600"/>
            </a:xfrm>
            <a:custGeom>
              <a:avLst/>
              <a:gdLst/>
              <a:ahLst/>
              <a:cxnLst/>
              <a:rect r="r" b="b" t="t" l="l"/>
              <a:pathLst>
                <a:path h="609600" w="4038600">
                  <a:moveTo>
                    <a:pt x="0" y="0"/>
                  </a:moveTo>
                  <a:lnTo>
                    <a:pt x="4038600" y="0"/>
                  </a:lnTo>
                  <a:lnTo>
                    <a:pt x="4038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40386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Phase 2: Expansion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92074" y="6032281"/>
            <a:ext cx="3162300" cy="914400"/>
            <a:chOff x="0" y="0"/>
            <a:chExt cx="421640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1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2164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Replicate success across Tier-2 cities with independent operators.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558434" y="3485822"/>
            <a:ext cx="381000" cy="381000"/>
            <a:chOff x="0" y="0"/>
            <a:chExt cx="508000" cy="50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0800" y="5080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341" y="0"/>
                    <a:pt x="406400" y="91059"/>
                    <a:pt x="406400" y="203200"/>
                  </a:cubicBezTo>
                  <a:cubicBezTo>
                    <a:pt x="406400" y="315341"/>
                    <a:pt x="315341" y="406400"/>
                    <a:pt x="203200" y="406400"/>
                  </a:cubicBezTo>
                  <a:cubicBezTo>
                    <a:pt x="91059" y="406400"/>
                    <a:pt x="0" y="315341"/>
                    <a:pt x="0" y="203200"/>
                  </a:cubicBez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254000" y="50800"/>
                  </a:lnTo>
                  <a:lnTo>
                    <a:pt x="254000" y="0"/>
                  </a:lnTo>
                  <a:cubicBezTo>
                    <a:pt x="394208" y="0"/>
                    <a:pt x="508000" y="113792"/>
                    <a:pt x="508000" y="254000"/>
                  </a:cubicBezTo>
                  <a:lnTo>
                    <a:pt x="457200" y="254000"/>
                  </a:lnTo>
                  <a:lnTo>
                    <a:pt x="508000" y="254000"/>
                  </a:lnTo>
                  <a:cubicBezTo>
                    <a:pt x="508000" y="394208"/>
                    <a:pt x="394208" y="508000"/>
                    <a:pt x="254000" y="508000"/>
                  </a:cubicBezTo>
                  <a:lnTo>
                    <a:pt x="254000" y="457200"/>
                  </a:lnTo>
                  <a:lnTo>
                    <a:pt x="254000" y="508000"/>
                  </a:lnTo>
                  <a:cubicBezTo>
                    <a:pt x="113792" y="508000"/>
                    <a:pt x="0" y="394208"/>
                    <a:pt x="0" y="254000"/>
                  </a:cubicBezTo>
                  <a:lnTo>
                    <a:pt x="50800" y="254000"/>
                  </a:lnTo>
                  <a:lnTo>
                    <a:pt x="0" y="254000"/>
                  </a:lnTo>
                  <a:cubicBezTo>
                    <a:pt x="0" y="113792"/>
                    <a:pt x="113792" y="0"/>
                    <a:pt x="254000" y="0"/>
                  </a:cubicBezTo>
                  <a:lnTo>
                    <a:pt x="254000" y="50800"/>
                  </a:lnTo>
                  <a:lnTo>
                    <a:pt x="254000" y="0"/>
                  </a:lnTo>
                  <a:moveTo>
                    <a:pt x="254000" y="101600"/>
                  </a:moveTo>
                  <a:cubicBezTo>
                    <a:pt x="169926" y="101600"/>
                    <a:pt x="101600" y="169926"/>
                    <a:pt x="101600" y="254000"/>
                  </a:cubicBezTo>
                  <a:cubicBezTo>
                    <a:pt x="101600" y="338074"/>
                    <a:pt x="169926" y="406400"/>
                    <a:pt x="254000" y="406400"/>
                  </a:cubicBezTo>
                  <a:cubicBezTo>
                    <a:pt x="338074" y="406400"/>
                    <a:pt x="406400" y="338074"/>
                    <a:pt x="406400" y="254000"/>
                  </a:cubicBezTo>
                  <a:cubicBezTo>
                    <a:pt x="406400" y="169926"/>
                    <a:pt x="338074" y="101600"/>
                    <a:pt x="254000" y="1016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761165" y="4475108"/>
            <a:ext cx="3594538" cy="481864"/>
            <a:chOff x="0" y="0"/>
            <a:chExt cx="4792717" cy="6424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92717" cy="642485"/>
            </a:xfrm>
            <a:custGeom>
              <a:avLst/>
              <a:gdLst/>
              <a:ahLst/>
              <a:cxnLst/>
              <a:rect r="r" b="b" t="t" l="l"/>
              <a:pathLst>
                <a:path h="642485" w="4792717">
                  <a:moveTo>
                    <a:pt x="0" y="0"/>
                  </a:moveTo>
                  <a:lnTo>
                    <a:pt x="4792717" y="0"/>
                  </a:lnTo>
                  <a:lnTo>
                    <a:pt x="4792717" y="642485"/>
                  </a:lnTo>
                  <a:lnTo>
                    <a:pt x="0" y="6424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4792717" cy="737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Phase 3: Marketing Blitz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167784" y="6032281"/>
            <a:ext cx="3162300" cy="952043"/>
            <a:chOff x="0" y="0"/>
            <a:chExt cx="4216400" cy="1269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16400" cy="1269391"/>
            </a:xfrm>
            <a:custGeom>
              <a:avLst/>
              <a:gdLst/>
              <a:ahLst/>
              <a:cxnLst/>
              <a:rect r="r" b="b" t="t" l="l"/>
              <a:pathLst>
                <a:path h="1269391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1269391"/>
                  </a:lnTo>
                  <a:lnTo>
                    <a:pt x="0" y="126939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216400" cy="13074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Launch marketing campaigns and tie up with companies to accelerate adoption.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680973" y="3485822"/>
            <a:ext cx="381000" cy="381000"/>
            <a:chOff x="0" y="0"/>
            <a:chExt cx="508000" cy="508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800" y="50800"/>
              <a:ext cx="406400" cy="406400"/>
            </a:xfrm>
            <a:custGeom>
              <a:avLst/>
              <a:gdLst/>
              <a:ahLst/>
              <a:cxnLst/>
              <a:rect r="r" b="b" t="t" l="l"/>
              <a:pathLst>
                <a:path h="406400" w="406400">
                  <a:moveTo>
                    <a:pt x="203200" y="0"/>
                  </a:moveTo>
                  <a:cubicBezTo>
                    <a:pt x="315341" y="0"/>
                    <a:pt x="406400" y="91059"/>
                    <a:pt x="406400" y="203200"/>
                  </a:cubicBezTo>
                  <a:cubicBezTo>
                    <a:pt x="406400" y="315341"/>
                    <a:pt x="315341" y="406400"/>
                    <a:pt x="203200" y="406400"/>
                  </a:cubicBezTo>
                  <a:cubicBezTo>
                    <a:pt x="91059" y="406400"/>
                    <a:pt x="0" y="315341"/>
                    <a:pt x="0" y="203200"/>
                  </a:cubicBez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A95EA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254000" y="0"/>
                  </a:moveTo>
                  <a:lnTo>
                    <a:pt x="254000" y="50800"/>
                  </a:lnTo>
                  <a:lnTo>
                    <a:pt x="254000" y="0"/>
                  </a:lnTo>
                  <a:cubicBezTo>
                    <a:pt x="394208" y="0"/>
                    <a:pt x="508000" y="113792"/>
                    <a:pt x="508000" y="254000"/>
                  </a:cubicBezTo>
                  <a:lnTo>
                    <a:pt x="457200" y="254000"/>
                  </a:lnTo>
                  <a:lnTo>
                    <a:pt x="508000" y="254000"/>
                  </a:lnTo>
                  <a:cubicBezTo>
                    <a:pt x="508000" y="394208"/>
                    <a:pt x="394208" y="508000"/>
                    <a:pt x="254000" y="508000"/>
                  </a:cubicBezTo>
                  <a:lnTo>
                    <a:pt x="254000" y="457200"/>
                  </a:lnTo>
                  <a:lnTo>
                    <a:pt x="254000" y="508000"/>
                  </a:lnTo>
                  <a:cubicBezTo>
                    <a:pt x="113792" y="508000"/>
                    <a:pt x="0" y="394208"/>
                    <a:pt x="0" y="254000"/>
                  </a:cubicBezTo>
                  <a:lnTo>
                    <a:pt x="50800" y="254000"/>
                  </a:lnTo>
                  <a:lnTo>
                    <a:pt x="0" y="254000"/>
                  </a:lnTo>
                  <a:cubicBezTo>
                    <a:pt x="0" y="113792"/>
                    <a:pt x="113792" y="0"/>
                    <a:pt x="254000" y="0"/>
                  </a:cubicBezTo>
                  <a:lnTo>
                    <a:pt x="254000" y="50800"/>
                  </a:lnTo>
                  <a:lnTo>
                    <a:pt x="254000" y="0"/>
                  </a:lnTo>
                  <a:moveTo>
                    <a:pt x="254000" y="101600"/>
                  </a:moveTo>
                  <a:cubicBezTo>
                    <a:pt x="169926" y="101600"/>
                    <a:pt x="101600" y="169926"/>
                    <a:pt x="101600" y="254000"/>
                  </a:cubicBezTo>
                  <a:cubicBezTo>
                    <a:pt x="101600" y="338074"/>
                    <a:pt x="169926" y="406400"/>
                    <a:pt x="254000" y="406400"/>
                  </a:cubicBezTo>
                  <a:cubicBezTo>
                    <a:pt x="338074" y="406400"/>
                    <a:pt x="406400" y="338074"/>
                    <a:pt x="406400" y="254000"/>
                  </a:cubicBezTo>
                  <a:cubicBezTo>
                    <a:pt x="406400" y="169926"/>
                    <a:pt x="338074" y="101600"/>
                    <a:pt x="254000" y="10160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623698" y="4475108"/>
            <a:ext cx="2495550" cy="457200"/>
            <a:chOff x="0" y="0"/>
            <a:chExt cx="332740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3274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27400">
                  <a:moveTo>
                    <a:pt x="0" y="0"/>
                  </a:moveTo>
                  <a:lnTo>
                    <a:pt x="3327400" y="0"/>
                  </a:lnTo>
                  <a:lnTo>
                    <a:pt x="3327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3327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National Rollout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290323" y="6032281"/>
            <a:ext cx="3162300" cy="914400"/>
            <a:chOff x="0" y="0"/>
            <a:chExt cx="421640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1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216400">
                  <a:moveTo>
                    <a:pt x="0" y="0"/>
                  </a:moveTo>
                  <a:lnTo>
                    <a:pt x="4216400" y="0"/>
                  </a:lnTo>
                  <a:lnTo>
                    <a:pt x="42164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21640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Target </a:t>
              </a:r>
              <a:r>
                <a:rPr lang="en-US" sz="18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0.86M litres</a:t>
              </a: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and </a:t>
              </a:r>
              <a:r>
                <a:rPr lang="en-US" sz="18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₹4.3L daily revenue</a:t>
              </a:r>
              <a:r>
                <a:rPr lang="en-US" sz="18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at a 0.5% txn fee.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10313670"/>
            <a:chOff x="0" y="0"/>
            <a:chExt cx="24375110" cy="13751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13751561"/>
            </a:xfrm>
            <a:custGeom>
              <a:avLst/>
              <a:gdLst/>
              <a:ahLst/>
              <a:cxnLst/>
              <a:rect r="r" b="b" t="t" l="l"/>
              <a:pathLst>
                <a:path h="13751561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13751561"/>
                  </a:lnTo>
                  <a:lnTo>
                    <a:pt x="0" y="13751561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4434192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58202" y="4074795"/>
            <a:ext cx="16622078" cy="33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Market &amp; Economics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64293" y="2023110"/>
            <a:ext cx="10559415" cy="161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34383" y="1409700"/>
            <a:ext cx="11010900" cy="685800"/>
            <a:chOff x="0" y="0"/>
            <a:chExt cx="146812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812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81200">
                  <a:moveTo>
                    <a:pt x="0" y="0"/>
                  </a:moveTo>
                  <a:lnTo>
                    <a:pt x="14681200" y="0"/>
                  </a:lnTo>
                  <a:lnTo>
                    <a:pt x="146812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46812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 Micro-Economics of a Single Pump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83062" y="2247900"/>
            <a:ext cx="13125450" cy="457200"/>
            <a:chOff x="0" y="0"/>
            <a:chExt cx="17500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00600" cy="609600"/>
            </a:xfrm>
            <a:custGeom>
              <a:avLst/>
              <a:gdLst/>
              <a:ahLst/>
              <a:cxnLst/>
              <a:rect r="r" b="b" t="t" l="l"/>
              <a:pathLst>
                <a:path h="609600" w="17500600">
                  <a:moveTo>
                    <a:pt x="0" y="0"/>
                  </a:moveTo>
                  <a:lnTo>
                    <a:pt x="17500600" y="0"/>
                  </a:lnTo>
                  <a:lnTo>
                    <a:pt x="175006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75006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A look at the daily economics for an average urban petrol pump and ZapPay's value proposition.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500" y="3733800"/>
            <a:ext cx="7010400" cy="3200400"/>
            <a:chOff x="0" y="0"/>
            <a:chExt cx="9347200" cy="4267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47200" cy="4267200"/>
            </a:xfrm>
            <a:custGeom>
              <a:avLst/>
              <a:gdLst/>
              <a:ahLst/>
              <a:cxnLst/>
              <a:rect r="r" b="b" t="t" l="l"/>
              <a:pathLst>
                <a:path h="4267200" w="9347200">
                  <a:moveTo>
                    <a:pt x="203200" y="0"/>
                  </a:moveTo>
                  <a:lnTo>
                    <a:pt x="9144000" y="0"/>
                  </a:lnTo>
                  <a:cubicBezTo>
                    <a:pt x="9256268" y="0"/>
                    <a:pt x="9347200" y="90932"/>
                    <a:pt x="9347200" y="203200"/>
                  </a:cubicBezTo>
                  <a:lnTo>
                    <a:pt x="9347200" y="4064000"/>
                  </a:lnTo>
                  <a:cubicBezTo>
                    <a:pt x="9347200" y="4176268"/>
                    <a:pt x="9256268" y="4267200"/>
                    <a:pt x="9144000" y="4267200"/>
                  </a:cubicBezTo>
                  <a:lnTo>
                    <a:pt x="203200" y="4267200"/>
                  </a:lnTo>
                  <a:cubicBezTo>
                    <a:pt x="90932" y="4267200"/>
                    <a:pt x="0" y="4176268"/>
                    <a:pt x="0" y="40640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D3B9D7">
                <a:alpha val="392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14450" y="4191000"/>
            <a:ext cx="6286500" cy="533400"/>
            <a:chOff x="0" y="0"/>
            <a:chExt cx="8382000" cy="711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38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382000" cy="777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3C354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Current State (Avg. Urban Pump)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3975" y="5029200"/>
            <a:ext cx="6267450" cy="609600"/>
            <a:chOff x="0" y="0"/>
            <a:chExt cx="83566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5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8356600">
                  <a:moveTo>
                    <a:pt x="0" y="0"/>
                  </a:moveTo>
                  <a:lnTo>
                    <a:pt x="8356600" y="0"/>
                  </a:lnTo>
                  <a:lnTo>
                    <a:pt x="8356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14300"/>
              <a:ext cx="8356600" cy="9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Daily Volume: </a:t>
              </a:r>
              <a:r>
                <a:rPr lang="en-US" sz="2700" b="true">
                  <a:solidFill>
                    <a:srgbClr val="8F5C9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12,000 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23975" y="5867400"/>
            <a:ext cx="6267450" cy="609600"/>
            <a:chOff x="0" y="0"/>
            <a:chExt cx="83566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5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8356600">
                  <a:moveTo>
                    <a:pt x="0" y="0"/>
                  </a:moveTo>
                  <a:lnTo>
                    <a:pt x="8356600" y="0"/>
                  </a:lnTo>
                  <a:lnTo>
                    <a:pt x="8356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14300"/>
              <a:ext cx="8356600" cy="9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Gross Profit: </a:t>
              </a:r>
              <a:r>
                <a:rPr lang="en-US" sz="2700" b="true">
                  <a:solidFill>
                    <a:srgbClr val="8F5C9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₹40,800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29650" y="4572000"/>
            <a:ext cx="1028700" cy="914400"/>
            <a:chOff x="0" y="0"/>
            <a:chExt cx="13716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228537"/>
              <a:ext cx="1371536" cy="762127"/>
            </a:xfrm>
            <a:custGeom>
              <a:avLst/>
              <a:gdLst/>
              <a:ahLst/>
              <a:cxnLst/>
              <a:rect r="r" b="b" t="t" l="l"/>
              <a:pathLst>
                <a:path h="762127" w="1371536">
                  <a:moveTo>
                    <a:pt x="1349248" y="434911"/>
                  </a:moveTo>
                  <a:cubicBezTo>
                    <a:pt x="1378966" y="405193"/>
                    <a:pt x="1378966" y="356806"/>
                    <a:pt x="1349248" y="327088"/>
                  </a:cubicBezTo>
                  <a:lnTo>
                    <a:pt x="1044448" y="22288"/>
                  </a:lnTo>
                  <a:cubicBezTo>
                    <a:pt x="1014730" y="-7430"/>
                    <a:pt x="966343" y="-7430"/>
                    <a:pt x="936625" y="22288"/>
                  </a:cubicBezTo>
                  <a:cubicBezTo>
                    <a:pt x="906907" y="52006"/>
                    <a:pt x="906907" y="100393"/>
                    <a:pt x="936625" y="130111"/>
                  </a:cubicBezTo>
                  <a:lnTo>
                    <a:pt x="1111377" y="304863"/>
                  </a:lnTo>
                  <a:lnTo>
                    <a:pt x="76200" y="304863"/>
                  </a:lnTo>
                  <a:cubicBezTo>
                    <a:pt x="34036" y="304863"/>
                    <a:pt x="0" y="338899"/>
                    <a:pt x="0" y="381063"/>
                  </a:cubicBezTo>
                  <a:cubicBezTo>
                    <a:pt x="0" y="423227"/>
                    <a:pt x="34036" y="457263"/>
                    <a:pt x="76200" y="457263"/>
                  </a:cubicBezTo>
                  <a:lnTo>
                    <a:pt x="1111377" y="457263"/>
                  </a:lnTo>
                  <a:lnTo>
                    <a:pt x="936498" y="632015"/>
                  </a:lnTo>
                  <a:cubicBezTo>
                    <a:pt x="906780" y="661733"/>
                    <a:pt x="906780" y="710120"/>
                    <a:pt x="936498" y="739838"/>
                  </a:cubicBezTo>
                  <a:cubicBezTo>
                    <a:pt x="966216" y="769556"/>
                    <a:pt x="1014603" y="769556"/>
                    <a:pt x="1044321" y="739838"/>
                  </a:cubicBezTo>
                  <a:lnTo>
                    <a:pt x="1349121" y="435038"/>
                  </a:lnTo>
                  <a:close/>
                </a:path>
              </a:pathLst>
            </a:custGeom>
            <a:solidFill>
              <a:srgbClr val="A95EA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601670" y="5638800"/>
            <a:ext cx="1238250" cy="457200"/>
            <a:chOff x="0" y="0"/>
            <a:chExt cx="165100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1000" cy="609600"/>
            </a:xfrm>
            <a:custGeom>
              <a:avLst/>
              <a:gdLst/>
              <a:ahLst/>
              <a:cxnLst/>
              <a:rect r="r" b="b" t="t" l="l"/>
              <a:pathLst>
                <a:path h="6096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651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ZapPay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325100" y="3314700"/>
            <a:ext cx="7010400" cy="4038600"/>
            <a:chOff x="0" y="0"/>
            <a:chExt cx="9347200" cy="5384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47200" cy="5384800"/>
            </a:xfrm>
            <a:custGeom>
              <a:avLst/>
              <a:gdLst/>
              <a:ahLst/>
              <a:cxnLst/>
              <a:rect r="r" b="b" t="t" l="l"/>
              <a:pathLst>
                <a:path h="5384800" w="9347200">
                  <a:moveTo>
                    <a:pt x="203200" y="0"/>
                  </a:moveTo>
                  <a:lnTo>
                    <a:pt x="9144000" y="0"/>
                  </a:lnTo>
                  <a:cubicBezTo>
                    <a:pt x="9256268" y="0"/>
                    <a:pt x="9347200" y="90932"/>
                    <a:pt x="9347200" y="203200"/>
                  </a:cubicBezTo>
                  <a:lnTo>
                    <a:pt x="9347200" y="5181600"/>
                  </a:lnTo>
                  <a:cubicBezTo>
                    <a:pt x="9347200" y="5293868"/>
                    <a:pt x="9256268" y="5384800"/>
                    <a:pt x="9144000" y="5384800"/>
                  </a:cubicBezTo>
                  <a:lnTo>
                    <a:pt x="203200" y="5384800"/>
                  </a:lnTo>
                  <a:cubicBezTo>
                    <a:pt x="90932" y="5384800"/>
                    <a:pt x="0" y="5293868"/>
                    <a:pt x="0" y="5181600"/>
                  </a:cubicBezTo>
                  <a:lnTo>
                    <a:pt x="0" y="203200"/>
                  </a:lnTo>
                  <a:cubicBezTo>
                    <a:pt x="0" y="91059"/>
                    <a:pt x="91059" y="0"/>
                    <a:pt x="203200" y="0"/>
                  </a:cubicBezTo>
                  <a:close/>
                </a:path>
              </a:pathLst>
            </a:custGeom>
            <a:solidFill>
              <a:srgbClr val="A95EAF">
                <a:alpha val="3922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687050" y="3771900"/>
            <a:ext cx="6286500" cy="533400"/>
            <a:chOff x="0" y="0"/>
            <a:chExt cx="8382000" cy="711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82000" cy="711200"/>
            </a:xfrm>
            <a:custGeom>
              <a:avLst/>
              <a:gdLst/>
              <a:ahLst/>
              <a:cxnLst/>
              <a:rect r="r" b="b" t="t" l="l"/>
              <a:pathLst>
                <a:path h="711200" w="8382000">
                  <a:moveTo>
                    <a:pt x="0" y="0"/>
                  </a:moveTo>
                  <a:lnTo>
                    <a:pt x="8382000" y="0"/>
                  </a:lnTo>
                  <a:lnTo>
                    <a:pt x="83820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8382000" cy="777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3C354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With ZapPay (Target)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96575" y="4610100"/>
            <a:ext cx="6267450" cy="609600"/>
            <a:chOff x="0" y="0"/>
            <a:chExt cx="83566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5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8356600">
                  <a:moveTo>
                    <a:pt x="0" y="0"/>
                  </a:moveTo>
                  <a:lnTo>
                    <a:pt x="8356600" y="0"/>
                  </a:lnTo>
                  <a:lnTo>
                    <a:pt x="8356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14300"/>
              <a:ext cx="8356600" cy="9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Target Volume: </a:t>
              </a:r>
              <a:r>
                <a:rPr lang="en-US" sz="27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2,400 L</a:t>
              </a: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(20%)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96575" y="5448300"/>
            <a:ext cx="6267450" cy="609600"/>
            <a:chOff x="0" y="0"/>
            <a:chExt cx="83566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5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8356600">
                  <a:moveTo>
                    <a:pt x="0" y="0"/>
                  </a:moveTo>
                  <a:lnTo>
                    <a:pt x="8356600" y="0"/>
                  </a:lnTo>
                  <a:lnTo>
                    <a:pt x="8356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14300"/>
              <a:ext cx="8356600" cy="9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Txn Value: </a:t>
              </a:r>
              <a:r>
                <a:rPr lang="en-US" sz="27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₹2.4 L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696575" y="6286500"/>
            <a:ext cx="6267450" cy="609600"/>
            <a:chOff x="0" y="0"/>
            <a:chExt cx="83566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356600" cy="812800"/>
            </a:xfrm>
            <a:custGeom>
              <a:avLst/>
              <a:gdLst/>
              <a:ahLst/>
              <a:cxnLst/>
              <a:rect r="r" b="b" t="t" l="l"/>
              <a:pathLst>
                <a:path h="812800" w="8356600">
                  <a:moveTo>
                    <a:pt x="0" y="0"/>
                  </a:moveTo>
                  <a:lnTo>
                    <a:pt x="8356600" y="0"/>
                  </a:lnTo>
                  <a:lnTo>
                    <a:pt x="83566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14300"/>
              <a:ext cx="8356600" cy="927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ZapPay Revenue: </a:t>
              </a:r>
              <a:r>
                <a:rPr lang="en-US" sz="27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₹1,200</a:t>
              </a:r>
              <a:r>
                <a:rPr lang="en-US" sz="27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(0.5%)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04800" y="7962900"/>
            <a:ext cx="17678400" cy="948589"/>
            <a:chOff x="0" y="0"/>
            <a:chExt cx="23571200" cy="126478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3571200" cy="1264785"/>
            </a:xfrm>
            <a:custGeom>
              <a:avLst/>
              <a:gdLst/>
              <a:ahLst/>
              <a:cxnLst/>
              <a:rect r="r" b="b" t="t" l="l"/>
              <a:pathLst>
                <a:path h="1264785" w="23571200">
                  <a:moveTo>
                    <a:pt x="0" y="0"/>
                  </a:moveTo>
                  <a:lnTo>
                    <a:pt x="23571200" y="0"/>
                  </a:lnTo>
                  <a:lnTo>
                    <a:pt x="23571200" y="1264785"/>
                  </a:lnTo>
                  <a:lnTo>
                    <a:pt x="0" y="12647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23571200" cy="1360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This translates to </a:t>
              </a:r>
              <a:r>
                <a:rPr lang="en-US" sz="2400" b="true">
                  <a:solidFill>
                    <a:srgbClr val="00BF6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₹4.4 L annually per pump</a:t>
              </a:r>
              <a:r>
                <a:rPr lang="en-US" sz="24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, with revenue compounding as loyalty rises and cash handling costs disappear.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1000" y="2667000"/>
            <a:ext cx="8591550" cy="685800"/>
            <a:chOff x="0" y="0"/>
            <a:chExt cx="114554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55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1455400">
                  <a:moveTo>
                    <a:pt x="0" y="0"/>
                  </a:moveTo>
                  <a:lnTo>
                    <a:pt x="11455400" y="0"/>
                  </a:lnTo>
                  <a:lnTo>
                    <a:pt x="11455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455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India's Fuel Retail Market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1000" y="3657600"/>
            <a:ext cx="8458200" cy="1415314"/>
            <a:chOff x="0" y="0"/>
            <a:chExt cx="11277600" cy="18870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77600" cy="1887085"/>
            </a:xfrm>
            <a:custGeom>
              <a:avLst/>
              <a:gdLst/>
              <a:ahLst/>
              <a:cxnLst/>
              <a:rect r="r" b="b" t="t" l="l"/>
              <a:pathLst>
                <a:path h="1887085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887085"/>
                  </a:lnTo>
                  <a:lnTo>
                    <a:pt x="0" y="1887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1277600" cy="1982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A massive, untapped digital opportunity. Urban pumps drive around </a:t>
              </a: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8.5 M litres</a:t>
              </a: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of cashless sales daily, creating a dealer profit pool of </a:t>
              </a:r>
              <a:r>
                <a:rPr lang="en-US" sz="24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₹87.5L to ₹2.2Cr</a:t>
              </a: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every 24 hours.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57212" y="5657850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600200" y="5524500"/>
            <a:ext cx="5238750" cy="457200"/>
            <a:chOff x="0" y="0"/>
            <a:chExt cx="69850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85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69850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Market Scale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00200" y="5981700"/>
            <a:ext cx="5219700" cy="381000"/>
            <a:chOff x="0" y="0"/>
            <a:chExt cx="6959600" cy="508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59600" cy="508000"/>
            </a:xfrm>
            <a:custGeom>
              <a:avLst/>
              <a:gdLst/>
              <a:ahLst/>
              <a:cxnLst/>
              <a:rect r="r" b="b" t="t" l="l"/>
              <a:pathLst>
                <a:path h="508000" w="6959600">
                  <a:moveTo>
                    <a:pt x="0" y="0"/>
                  </a:moveTo>
                  <a:lnTo>
                    <a:pt x="6959600" y="0"/>
                  </a:lnTo>
                  <a:lnTo>
                    <a:pt x="69596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69596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55,000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total pumps, </a:t>
              </a:r>
              <a:r>
                <a:rPr lang="en-US" sz="21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40,000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in urban areas.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92932" y="6877050"/>
            <a:ext cx="500062" cy="571500"/>
          </a:xfrm>
          <a:custGeom>
            <a:avLst/>
            <a:gdLst/>
            <a:ahLst/>
            <a:cxnLst/>
            <a:rect r="r" b="b" t="t" l="l"/>
            <a:pathLst>
              <a:path h="571500" w="500062">
                <a:moveTo>
                  <a:pt x="0" y="0"/>
                </a:moveTo>
                <a:lnTo>
                  <a:pt x="500062" y="0"/>
                </a:lnTo>
                <a:lnTo>
                  <a:pt x="500062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00200" y="6743700"/>
            <a:ext cx="6496050" cy="457200"/>
            <a:chOff x="0" y="0"/>
            <a:chExt cx="866140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661400" cy="609600"/>
            </a:xfrm>
            <a:custGeom>
              <a:avLst/>
              <a:gdLst/>
              <a:ahLst/>
              <a:cxnLst/>
              <a:rect r="r" b="b" t="t" l="l"/>
              <a:pathLst>
                <a:path h="609600" w="8661400">
                  <a:moveTo>
                    <a:pt x="0" y="0"/>
                  </a:moveTo>
                  <a:lnTo>
                    <a:pt x="8661400" y="0"/>
                  </a:lnTo>
                  <a:lnTo>
                    <a:pt x="86614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0"/>
              <a:ext cx="866140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Dealer Margins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00200" y="7200900"/>
            <a:ext cx="6477000" cy="381000"/>
            <a:chOff x="0" y="0"/>
            <a:chExt cx="8636000" cy="50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636000" cy="508000"/>
            </a:xfrm>
            <a:custGeom>
              <a:avLst/>
              <a:gdLst/>
              <a:ahLst/>
              <a:cxnLst/>
              <a:rect r="r" b="b" t="t" l="l"/>
              <a:pathLst>
                <a:path h="5080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8636000" cy="565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₹2.5-₹4.4 per litre, yielding a </a:t>
              </a:r>
              <a:r>
                <a:rPr lang="en-US" sz="21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3-5%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gross commission.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381000"/>
            <a:ext cx="8763000" cy="9525000"/>
            <a:chOff x="0" y="0"/>
            <a:chExt cx="11684000" cy="1270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84000" cy="12700000"/>
            </a:xfrm>
            <a:custGeom>
              <a:avLst/>
              <a:gdLst/>
              <a:ahLst/>
              <a:cxnLst/>
              <a:rect r="r" b="b" t="t" l="l"/>
              <a:pathLst>
                <a:path h="12700000" w="11684000">
                  <a:moveTo>
                    <a:pt x="304800" y="0"/>
                  </a:moveTo>
                  <a:lnTo>
                    <a:pt x="11379200" y="0"/>
                  </a:lnTo>
                  <a:cubicBezTo>
                    <a:pt x="11547602" y="0"/>
                    <a:pt x="11684000" y="136525"/>
                    <a:pt x="11684000" y="304800"/>
                  </a:cubicBezTo>
                  <a:lnTo>
                    <a:pt x="11684000" y="12395200"/>
                  </a:lnTo>
                  <a:cubicBezTo>
                    <a:pt x="11684000" y="12563602"/>
                    <a:pt x="11547475" y="12700000"/>
                    <a:pt x="11379200" y="12700000"/>
                  </a:cubicBezTo>
                  <a:lnTo>
                    <a:pt x="304800" y="12700000"/>
                  </a:lnTo>
                  <a:cubicBezTo>
                    <a:pt x="136398" y="12700000"/>
                    <a:pt x="0" y="12563475"/>
                    <a:pt x="0" y="12395200"/>
                  </a:cubicBezTo>
                  <a:lnTo>
                    <a:pt x="0" y="304800"/>
                  </a:lnTo>
                  <a:cubicBezTo>
                    <a:pt x="0" y="136652"/>
                    <a:pt x="136652" y="0"/>
                    <a:pt x="304800" y="0"/>
                  </a:cubicBezTo>
                  <a:close/>
                </a:path>
              </a:pathLst>
            </a:custGeom>
            <a:solidFill>
              <a:srgbClr val="D3B9D7">
                <a:alpha val="902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896897" y="2505075"/>
            <a:ext cx="5257800" cy="533400"/>
            <a:chOff x="0" y="0"/>
            <a:chExt cx="70104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10400" cy="711200"/>
            </a:xfrm>
            <a:custGeom>
              <a:avLst/>
              <a:gdLst/>
              <a:ahLst/>
              <a:cxnLst/>
              <a:rect r="r" b="b" t="t" l="l"/>
              <a:pathLst>
                <a:path h="711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7010400" cy="777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000" b="true">
                  <a:solidFill>
                    <a:srgbClr val="3C354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ZapPay's Revenue Potential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34525" y="3343275"/>
            <a:ext cx="7981950" cy="762000"/>
            <a:chOff x="0" y="0"/>
            <a:chExt cx="10642600" cy="1016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426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642600">
                  <a:moveTo>
                    <a:pt x="0" y="0"/>
                  </a:moveTo>
                  <a:lnTo>
                    <a:pt x="10642600" y="0"/>
                  </a:lnTo>
                  <a:lnTo>
                    <a:pt x="106426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0642600" cy="107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Capturing just </a:t>
              </a:r>
              <a:r>
                <a:rPr lang="en-US" sz="21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10%</a:t>
              </a:r>
              <a:r>
                <a:rPr lang="en-US" sz="21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of the market's cashless volume unlocks significant revenue for ZapPay.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371958" y="4562475"/>
            <a:ext cx="4305300" cy="533400"/>
            <a:chOff x="0" y="0"/>
            <a:chExt cx="57404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740400" cy="711200"/>
            </a:xfrm>
            <a:custGeom>
              <a:avLst/>
              <a:gdLst/>
              <a:ahLst/>
              <a:cxnLst/>
              <a:rect r="r" b="b" t="t" l="l"/>
              <a:pathLst>
                <a:path h="711200" w="5740400">
                  <a:moveTo>
                    <a:pt x="0" y="0"/>
                  </a:moveTo>
                  <a:lnTo>
                    <a:pt x="5740400" y="0"/>
                  </a:lnTo>
                  <a:lnTo>
                    <a:pt x="5740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14300"/>
              <a:ext cx="57404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Target Volume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286233" y="5095875"/>
            <a:ext cx="4476750" cy="762000"/>
            <a:chOff x="0" y="0"/>
            <a:chExt cx="5969000" cy="1016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69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57150"/>
              <a:ext cx="5969000" cy="958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A95EA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0.86M Litres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974712" y="6162675"/>
            <a:ext cx="3105150" cy="19050"/>
            <a:chOff x="0" y="0"/>
            <a:chExt cx="4140200" cy="25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40200" cy="25400"/>
            </a:xfrm>
            <a:custGeom>
              <a:avLst/>
              <a:gdLst/>
              <a:ahLst/>
              <a:cxnLst/>
              <a:rect r="r" b="b" t="t" l="l"/>
              <a:pathLst>
                <a:path h="25400" w="4140200">
                  <a:moveTo>
                    <a:pt x="0" y="0"/>
                  </a:moveTo>
                  <a:lnTo>
                    <a:pt x="4140200" y="0"/>
                  </a:lnTo>
                  <a:lnTo>
                    <a:pt x="4140200" y="25400"/>
                  </a:lnTo>
                  <a:lnTo>
                    <a:pt x="0" y="25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5C9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371958" y="6486525"/>
            <a:ext cx="4305300" cy="533400"/>
            <a:chOff x="0" y="0"/>
            <a:chExt cx="5740400" cy="711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740400" cy="711200"/>
            </a:xfrm>
            <a:custGeom>
              <a:avLst/>
              <a:gdLst/>
              <a:ahLst/>
              <a:cxnLst/>
              <a:rect r="r" b="b" t="t" l="l"/>
              <a:pathLst>
                <a:path h="711200" w="5740400">
                  <a:moveTo>
                    <a:pt x="0" y="0"/>
                  </a:moveTo>
                  <a:lnTo>
                    <a:pt x="5740400" y="0"/>
                  </a:lnTo>
                  <a:lnTo>
                    <a:pt x="5740400" y="711200"/>
                  </a:lnTo>
                  <a:lnTo>
                    <a:pt x="0" y="71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5740400" cy="825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12"/>
                </a:lnSpc>
              </a:pPr>
              <a:r>
                <a:rPr lang="en-US" sz="2700" b="true">
                  <a:solidFill>
                    <a:srgbClr val="3C354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Daily Revenue (0.5% Fee)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286233" y="7019925"/>
            <a:ext cx="4476750" cy="762000"/>
            <a:chOff x="0" y="0"/>
            <a:chExt cx="5969000" cy="1016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69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5969000">
                  <a:moveTo>
                    <a:pt x="0" y="0"/>
                  </a:moveTo>
                  <a:lnTo>
                    <a:pt x="5969000" y="0"/>
                  </a:lnTo>
                  <a:lnTo>
                    <a:pt x="59690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57150"/>
              <a:ext cx="5969000" cy="958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A95EA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₹4.3L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10313670"/>
            <a:chOff x="0" y="0"/>
            <a:chExt cx="24375110" cy="13751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13751561"/>
            </a:xfrm>
            <a:custGeom>
              <a:avLst/>
              <a:gdLst/>
              <a:ahLst/>
              <a:cxnLst/>
              <a:rect r="r" b="b" t="t" l="l"/>
              <a:pathLst>
                <a:path h="13751561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13751561"/>
                  </a:lnTo>
                  <a:lnTo>
                    <a:pt x="0" y="13751561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4434192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58202" y="4074795"/>
            <a:ext cx="16622078" cy="33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Vision &amp; Close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64293" y="2023110"/>
            <a:ext cx="10559415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238125" y="-9525"/>
            <a:ext cx="18526125" cy="10440352"/>
            <a:chOff x="0" y="0"/>
            <a:chExt cx="24701500" cy="13920470"/>
          </a:xfrm>
        </p:grpSpPr>
        <p:sp>
          <p:nvSpPr>
            <p:cNvPr name="Freeform 5" id="5" descr="https://kimi-img.moonshot.cn/pub/slides/slides_tmpl/image/25-09-08-15:08:29-d2v81rdnfo2stf9dkdb0.jpg"/>
            <p:cNvSpPr/>
            <p:nvPr/>
          </p:nvSpPr>
          <p:spPr>
            <a:xfrm flipH="false" flipV="false" rot="0">
              <a:off x="0" y="0"/>
              <a:ext cx="24701500" cy="13920470"/>
            </a:xfrm>
            <a:custGeom>
              <a:avLst/>
              <a:gdLst/>
              <a:ahLst/>
              <a:cxnLst/>
              <a:rect r="r" b="b" t="t" l="l"/>
              <a:pathLst>
                <a:path h="13920470" w="24701500">
                  <a:moveTo>
                    <a:pt x="0" y="0"/>
                  </a:moveTo>
                  <a:lnTo>
                    <a:pt x="24701500" y="0"/>
                  </a:lnTo>
                  <a:lnTo>
                    <a:pt x="24701500" y="13920470"/>
                  </a:lnTo>
                  <a:lnTo>
                    <a:pt x="0" y="13920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" t="0" r="-4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1000" y="1847850"/>
            <a:ext cx="8496300" cy="1714500"/>
            <a:chOff x="0" y="0"/>
            <a:chExt cx="11328400" cy="228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284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328400">
                  <a:moveTo>
                    <a:pt x="0" y="0"/>
                  </a:moveTo>
                  <a:lnTo>
                    <a:pt x="11328400" y="0"/>
                  </a:lnTo>
                  <a:lnTo>
                    <a:pt x="113284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3284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8F5C9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Mission: A Zero-Wait, Zero-Cash India.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1000" y="4019550"/>
            <a:ext cx="8305800" cy="2286000"/>
            <a:chOff x="0" y="0"/>
            <a:chExt cx="11074400" cy="304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44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3048000"/>
                  </a:lnTo>
                  <a:lnTo>
                    <a:pt x="0" y="304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1074400" cy="3143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ZapPay is more than a payment solution; it's a vision to fundamentally transform the fuel retail landscape. We will eradicate queues, empower </a:t>
              </a:r>
              <a:r>
                <a:rPr lang="en-US" sz="2400" b="true">
                  <a:solidFill>
                    <a:srgbClr val="A95EA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85,000 dealers</a:t>
              </a: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 with frictionless digital commerce, and create a vehicle-linked payment identity for every driver.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81000" y="6610350"/>
            <a:ext cx="8305800" cy="1882039"/>
            <a:chOff x="0" y="0"/>
            <a:chExt cx="11074400" cy="25093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74400" cy="2509385"/>
            </a:xfrm>
            <a:custGeom>
              <a:avLst/>
              <a:gdLst/>
              <a:ahLst/>
              <a:cxnLst/>
              <a:rect r="r" b="b" t="t" l="l"/>
              <a:pathLst>
                <a:path h="2509385" w="11074400">
                  <a:moveTo>
                    <a:pt x="0" y="0"/>
                  </a:moveTo>
                  <a:lnTo>
                    <a:pt x="11074400" y="0"/>
                  </a:lnTo>
                  <a:lnTo>
                    <a:pt x="11074400" y="2509385"/>
                  </a:lnTo>
                  <a:lnTo>
                    <a:pt x="0" y="2509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1074400" cy="26046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3C3542"/>
                  </a:solidFill>
                  <a:latin typeface="Arimo"/>
                  <a:ea typeface="Arimo"/>
                  <a:cs typeface="Arimo"/>
                  <a:sym typeface="Arimo"/>
                </a:rPr>
                <a:t>Every scan strengthens a nationwide ecosystem where fuel, fleet, and finance converge, paving the way for future innovations like carbon credits and personalized loyalty currencies.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144000" y="381000"/>
            <a:ext cx="8763000" cy="9525000"/>
            <a:chOff x="0" y="0"/>
            <a:chExt cx="11684000" cy="1270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84000" cy="12700000"/>
            </a:xfrm>
            <a:custGeom>
              <a:avLst/>
              <a:gdLst/>
              <a:ahLst/>
              <a:cxnLst/>
              <a:rect r="r" b="b" t="t" l="l"/>
              <a:pathLst>
                <a:path h="127000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12700000"/>
                  </a:lnTo>
                  <a:lnTo>
                    <a:pt x="0" y="1270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500" r="0" b="-7500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940000">
            <a:off x="551497" y="503872"/>
            <a:ext cx="838200" cy="892493"/>
            <a:chOff x="0" y="0"/>
            <a:chExt cx="1117600" cy="1189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7600" cy="1189990"/>
            </a:xfrm>
            <a:custGeom>
              <a:avLst/>
              <a:gdLst/>
              <a:ahLst/>
              <a:cxnLst/>
              <a:rect r="r" b="b" t="t" l="l"/>
              <a:pathLst>
                <a:path h="1189990" w="1117600">
                  <a:moveTo>
                    <a:pt x="0" y="594995"/>
                  </a:moveTo>
                  <a:cubicBezTo>
                    <a:pt x="0" y="266446"/>
                    <a:pt x="250190" y="0"/>
                    <a:pt x="558800" y="0"/>
                  </a:cubicBezTo>
                  <a:cubicBezTo>
                    <a:pt x="867410" y="0"/>
                    <a:pt x="1117600" y="266446"/>
                    <a:pt x="1117600" y="594995"/>
                  </a:cubicBezTo>
                  <a:cubicBezTo>
                    <a:pt x="1117600" y="923544"/>
                    <a:pt x="867410" y="1189990"/>
                    <a:pt x="558800" y="1189990"/>
                  </a:cubicBezTo>
                  <a:cubicBezTo>
                    <a:pt x="250190" y="1189990"/>
                    <a:pt x="0" y="923544"/>
                    <a:pt x="0" y="594995"/>
                  </a:cubicBezTo>
                  <a:close/>
                  <a:moveTo>
                    <a:pt x="279400" y="594995"/>
                  </a:moveTo>
                  <a:cubicBezTo>
                    <a:pt x="279400" y="769239"/>
                    <a:pt x="404495" y="910590"/>
                    <a:pt x="558800" y="910590"/>
                  </a:cubicBezTo>
                  <a:cubicBezTo>
                    <a:pt x="713105" y="910590"/>
                    <a:pt x="838200" y="769239"/>
                    <a:pt x="838200" y="594995"/>
                  </a:cubicBezTo>
                  <a:cubicBezTo>
                    <a:pt x="838200" y="420751"/>
                    <a:pt x="713105" y="279400"/>
                    <a:pt x="558800" y="279400"/>
                  </a:cubicBezTo>
                  <a:cubicBezTo>
                    <a:pt x="404495" y="279400"/>
                    <a:pt x="279400" y="420751"/>
                    <a:pt x="279400" y="594995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2E7F">
                    <a:alpha val="100000"/>
                  </a:srgbClr>
                </a:gs>
                <a:gs pos="54000">
                  <a:srgbClr val="BC7DB7">
                    <a:alpha val="3000"/>
                  </a:srgbClr>
                </a:gs>
                <a:gs pos="100000">
                  <a:srgbClr val="BC7DB7">
                    <a:alpha val="3000"/>
                  </a:srgbClr>
                </a:gs>
              </a:gsLst>
              <a:lin ang="19007808"/>
            </a:gra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" y="0"/>
            <a:ext cx="18281332" cy="10313670"/>
            <a:chOff x="0" y="0"/>
            <a:chExt cx="24375110" cy="13751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75111" cy="13751561"/>
            </a:xfrm>
            <a:custGeom>
              <a:avLst/>
              <a:gdLst/>
              <a:ahLst/>
              <a:cxnLst/>
              <a:rect r="r" b="b" t="t" l="l"/>
              <a:pathLst>
                <a:path h="13751561" w="24375111">
                  <a:moveTo>
                    <a:pt x="0" y="0"/>
                  </a:moveTo>
                  <a:lnTo>
                    <a:pt x="24375111" y="0"/>
                  </a:lnTo>
                  <a:lnTo>
                    <a:pt x="24375111" y="13751561"/>
                  </a:lnTo>
                  <a:lnTo>
                    <a:pt x="0" y="13751561"/>
                  </a:lnTo>
                  <a:close/>
                </a:path>
              </a:pathLst>
            </a:custGeom>
            <a:gradFill rotWithShape="true">
              <a:gsLst>
                <a:gs pos="0">
                  <a:srgbClr val="D7B1D4">
                    <a:alpha val="100000"/>
                  </a:srgbClr>
                </a:gs>
                <a:gs pos="34000">
                  <a:srgbClr val="BC7DB7">
                    <a:alpha val="100000"/>
                  </a:srgbClr>
                </a:gs>
                <a:gs pos="100000">
                  <a:srgbClr val="30225F">
                    <a:alpha val="100000"/>
                  </a:srgbClr>
                </a:gs>
              </a:gsLst>
              <a:lin ang="14434192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9208" y="704850"/>
            <a:ext cx="160020" cy="160020"/>
            <a:chOff x="0" y="0"/>
            <a:chExt cx="213360" cy="213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90688" y="690562"/>
            <a:ext cx="188595" cy="188595"/>
            <a:chOff x="0" y="0"/>
            <a:chExt cx="251460" cy="2514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2130742" y="704850"/>
            <a:ext cx="160020" cy="160020"/>
            <a:chOff x="0" y="0"/>
            <a:chExt cx="213360" cy="213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2542222" y="690562"/>
            <a:ext cx="188595" cy="188595"/>
            <a:chOff x="0" y="0"/>
            <a:chExt cx="251460" cy="2514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2982278" y="704850"/>
            <a:ext cx="160020" cy="160020"/>
            <a:chOff x="0" y="0"/>
            <a:chExt cx="213360" cy="213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" cy="213360"/>
            </a:xfrm>
            <a:custGeom>
              <a:avLst/>
              <a:gdLst/>
              <a:ahLst/>
              <a:cxnLst/>
              <a:rect r="r" b="b" t="t" l="l"/>
              <a:pathLst>
                <a:path h="213360" w="213360">
                  <a:moveTo>
                    <a:pt x="0" y="106680"/>
                  </a:moveTo>
                  <a:cubicBezTo>
                    <a:pt x="0" y="47752"/>
                    <a:pt x="47752" y="0"/>
                    <a:pt x="106680" y="0"/>
                  </a:cubicBezTo>
                  <a:cubicBezTo>
                    <a:pt x="165608" y="0"/>
                    <a:pt x="213360" y="47752"/>
                    <a:pt x="213360" y="106680"/>
                  </a:cubicBezTo>
                  <a:cubicBezTo>
                    <a:pt x="213360" y="165608"/>
                    <a:pt x="165608" y="213360"/>
                    <a:pt x="106680" y="213360"/>
                  </a:cubicBezTo>
                  <a:cubicBezTo>
                    <a:pt x="47752" y="213360"/>
                    <a:pt x="0" y="165608"/>
                    <a:pt x="0" y="1066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393758" y="690562"/>
            <a:ext cx="188595" cy="188595"/>
            <a:chOff x="0" y="0"/>
            <a:chExt cx="251460" cy="2514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460" cy="251460"/>
            </a:xfrm>
            <a:custGeom>
              <a:avLst/>
              <a:gdLst/>
              <a:ahLst/>
              <a:cxnLst/>
              <a:rect r="r" b="b" t="t" l="l"/>
              <a:pathLst>
                <a:path h="251460" w="251460">
                  <a:moveTo>
                    <a:pt x="0" y="125730"/>
                  </a:moveTo>
                  <a:cubicBezTo>
                    <a:pt x="0" y="56261"/>
                    <a:pt x="56261" y="0"/>
                    <a:pt x="125730" y="0"/>
                  </a:cubicBezTo>
                  <a:cubicBezTo>
                    <a:pt x="195199" y="0"/>
                    <a:pt x="251460" y="56261"/>
                    <a:pt x="251460" y="125730"/>
                  </a:cubicBezTo>
                  <a:lnTo>
                    <a:pt x="232410" y="125730"/>
                  </a:lnTo>
                  <a:lnTo>
                    <a:pt x="251460" y="125730"/>
                  </a:lnTo>
                  <a:cubicBezTo>
                    <a:pt x="251460" y="195199"/>
                    <a:pt x="195199" y="251460"/>
                    <a:pt x="125730" y="251460"/>
                  </a:cubicBezTo>
                  <a:lnTo>
                    <a:pt x="125730" y="232410"/>
                  </a:lnTo>
                  <a:lnTo>
                    <a:pt x="125730" y="251460"/>
                  </a:lnTo>
                  <a:cubicBezTo>
                    <a:pt x="56261" y="251460"/>
                    <a:pt x="0" y="195199"/>
                    <a:pt x="0" y="125730"/>
                  </a:cubicBezTo>
                  <a:lnTo>
                    <a:pt x="19050" y="125730"/>
                  </a:lnTo>
                  <a:lnTo>
                    <a:pt x="38100" y="125730"/>
                  </a:lnTo>
                  <a:lnTo>
                    <a:pt x="19050" y="125730"/>
                  </a:lnTo>
                  <a:lnTo>
                    <a:pt x="0" y="125730"/>
                  </a:lnTo>
                  <a:moveTo>
                    <a:pt x="38100" y="125730"/>
                  </a:moveTo>
                  <a:cubicBezTo>
                    <a:pt x="38100" y="136271"/>
                    <a:pt x="29591" y="144780"/>
                    <a:pt x="19050" y="144780"/>
                  </a:cubicBezTo>
                  <a:cubicBezTo>
                    <a:pt x="8509" y="144780"/>
                    <a:pt x="0" y="136271"/>
                    <a:pt x="0" y="125730"/>
                  </a:cubicBezTo>
                  <a:cubicBezTo>
                    <a:pt x="0" y="115189"/>
                    <a:pt x="8509" y="106680"/>
                    <a:pt x="19050" y="106680"/>
                  </a:cubicBezTo>
                  <a:cubicBezTo>
                    <a:pt x="29591" y="106680"/>
                    <a:pt x="38100" y="115189"/>
                    <a:pt x="38100" y="125730"/>
                  </a:cubicBezTo>
                  <a:cubicBezTo>
                    <a:pt x="38100" y="174117"/>
                    <a:pt x="77343" y="213360"/>
                    <a:pt x="125730" y="213360"/>
                  </a:cubicBezTo>
                  <a:cubicBezTo>
                    <a:pt x="174117" y="213360"/>
                    <a:pt x="213360" y="174117"/>
                    <a:pt x="213360" y="125730"/>
                  </a:cubicBezTo>
                  <a:cubicBezTo>
                    <a:pt x="213360" y="77343"/>
                    <a:pt x="174117" y="38100"/>
                    <a:pt x="125730" y="38100"/>
                  </a:cubicBezTo>
                  <a:lnTo>
                    <a:pt x="125730" y="19050"/>
                  </a:lnTo>
                  <a:lnTo>
                    <a:pt x="125730" y="38100"/>
                  </a:lnTo>
                  <a:cubicBezTo>
                    <a:pt x="77343" y="38100"/>
                    <a:pt x="38100" y="77343"/>
                    <a:pt x="38100" y="1257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7184052" y="572452"/>
            <a:ext cx="526732" cy="65722"/>
            <a:chOff x="0" y="0"/>
            <a:chExt cx="702310" cy="876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7184052" y="752475"/>
            <a:ext cx="526732" cy="65723"/>
            <a:chOff x="0" y="0"/>
            <a:chExt cx="702310" cy="876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7184052" y="932498"/>
            <a:ext cx="526732" cy="65723"/>
            <a:chOff x="0" y="0"/>
            <a:chExt cx="702310" cy="876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2310" cy="87630"/>
            </a:xfrm>
            <a:custGeom>
              <a:avLst/>
              <a:gdLst/>
              <a:ahLst/>
              <a:cxnLst/>
              <a:rect r="r" b="b" t="t" l="l"/>
              <a:pathLst>
                <a:path h="87630" w="70231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658495" y="0"/>
                  </a:lnTo>
                  <a:cubicBezTo>
                    <a:pt x="682752" y="0"/>
                    <a:pt x="702310" y="19558"/>
                    <a:pt x="702310" y="43815"/>
                  </a:cubicBezTo>
                  <a:cubicBezTo>
                    <a:pt x="702310" y="68072"/>
                    <a:pt x="682752" y="87630"/>
                    <a:pt x="658495" y="87630"/>
                  </a:cubicBezTo>
                  <a:lnTo>
                    <a:pt x="43815" y="87630"/>
                  </a:lnTo>
                  <a:cubicBezTo>
                    <a:pt x="19558" y="87630"/>
                    <a:pt x="0" y="68072"/>
                    <a:pt x="0" y="438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576498" y="9445943"/>
            <a:ext cx="15148575" cy="28575"/>
            <a:chOff x="0" y="0"/>
            <a:chExt cx="201981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9050" y="0"/>
              <a:ext cx="20159980" cy="38100"/>
            </a:xfrm>
            <a:custGeom>
              <a:avLst/>
              <a:gdLst/>
              <a:ahLst/>
              <a:cxnLst/>
              <a:rect r="r" b="b" t="t" l="l"/>
              <a:pathLst>
                <a:path h="38100" w="20159980">
                  <a:moveTo>
                    <a:pt x="0" y="0"/>
                  </a:moveTo>
                  <a:lnTo>
                    <a:pt x="20159980" y="0"/>
                  </a:lnTo>
                  <a:lnTo>
                    <a:pt x="201599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79208" y="9265920"/>
            <a:ext cx="388620" cy="388620"/>
            <a:chOff x="0" y="0"/>
            <a:chExt cx="518160" cy="518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8160" cy="518160"/>
            </a:xfrm>
            <a:custGeom>
              <a:avLst/>
              <a:gdLst/>
              <a:ahLst/>
              <a:cxnLst/>
              <a:rect r="r" b="b" t="t" l="l"/>
              <a:pathLst>
                <a:path h="518160" w="518160">
                  <a:moveTo>
                    <a:pt x="0" y="259080"/>
                  </a:moveTo>
                  <a:cubicBezTo>
                    <a:pt x="0" y="115951"/>
                    <a:pt x="115951" y="0"/>
                    <a:pt x="259080" y="0"/>
                  </a:cubicBezTo>
                  <a:cubicBezTo>
                    <a:pt x="402209" y="0"/>
                    <a:pt x="518160" y="115951"/>
                    <a:pt x="518160" y="259080"/>
                  </a:cubicBezTo>
                  <a:cubicBezTo>
                    <a:pt x="518160" y="402209"/>
                    <a:pt x="402209" y="518160"/>
                    <a:pt x="259080" y="518160"/>
                  </a:cubicBezTo>
                  <a:cubicBezTo>
                    <a:pt x="115951" y="518160"/>
                    <a:pt x="0" y="402209"/>
                    <a:pt x="0" y="25908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455420" y="9251632"/>
            <a:ext cx="417195" cy="417195"/>
            <a:chOff x="0" y="0"/>
            <a:chExt cx="556260" cy="5562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56260" cy="556260"/>
            </a:xfrm>
            <a:custGeom>
              <a:avLst/>
              <a:gdLst/>
              <a:ahLst/>
              <a:cxnLst/>
              <a:rect r="r" b="b" t="t" l="l"/>
              <a:pathLst>
                <a:path h="556260" w="556260">
                  <a:moveTo>
                    <a:pt x="0" y="278130"/>
                  </a:moveTo>
                  <a:cubicBezTo>
                    <a:pt x="0" y="124460"/>
                    <a:pt x="124460" y="0"/>
                    <a:pt x="278130" y="0"/>
                  </a:cubicBezTo>
                  <a:lnTo>
                    <a:pt x="278130" y="19050"/>
                  </a:lnTo>
                  <a:lnTo>
                    <a:pt x="278130" y="0"/>
                  </a:lnTo>
                  <a:cubicBezTo>
                    <a:pt x="431800" y="0"/>
                    <a:pt x="556260" y="124460"/>
                    <a:pt x="556260" y="278130"/>
                  </a:cubicBezTo>
                  <a:lnTo>
                    <a:pt x="537210" y="278130"/>
                  </a:lnTo>
                  <a:lnTo>
                    <a:pt x="556260" y="278130"/>
                  </a:lnTo>
                  <a:cubicBezTo>
                    <a:pt x="556260" y="431800"/>
                    <a:pt x="431800" y="556260"/>
                    <a:pt x="278130" y="556260"/>
                  </a:cubicBezTo>
                  <a:lnTo>
                    <a:pt x="278130" y="537210"/>
                  </a:lnTo>
                  <a:lnTo>
                    <a:pt x="278130" y="556260"/>
                  </a:lnTo>
                  <a:cubicBezTo>
                    <a:pt x="124460" y="556260"/>
                    <a:pt x="0" y="431800"/>
                    <a:pt x="0" y="278130"/>
                  </a:cubicBezTo>
                  <a:lnTo>
                    <a:pt x="19050" y="278130"/>
                  </a:lnTo>
                  <a:lnTo>
                    <a:pt x="38100" y="278130"/>
                  </a:lnTo>
                  <a:lnTo>
                    <a:pt x="19050" y="278130"/>
                  </a:lnTo>
                  <a:lnTo>
                    <a:pt x="0" y="278130"/>
                  </a:lnTo>
                  <a:moveTo>
                    <a:pt x="38100" y="278130"/>
                  </a:moveTo>
                  <a:cubicBezTo>
                    <a:pt x="38100" y="288671"/>
                    <a:pt x="29591" y="297180"/>
                    <a:pt x="19050" y="297180"/>
                  </a:cubicBezTo>
                  <a:cubicBezTo>
                    <a:pt x="8509" y="297180"/>
                    <a:pt x="0" y="288671"/>
                    <a:pt x="0" y="278130"/>
                  </a:cubicBezTo>
                  <a:cubicBezTo>
                    <a:pt x="0" y="267589"/>
                    <a:pt x="8509" y="259080"/>
                    <a:pt x="19050" y="259080"/>
                  </a:cubicBezTo>
                  <a:cubicBezTo>
                    <a:pt x="29591" y="259080"/>
                    <a:pt x="38100" y="267589"/>
                    <a:pt x="38100" y="278130"/>
                  </a:cubicBezTo>
                  <a:cubicBezTo>
                    <a:pt x="38100" y="410718"/>
                    <a:pt x="145542" y="518160"/>
                    <a:pt x="278130" y="518160"/>
                  </a:cubicBezTo>
                  <a:cubicBezTo>
                    <a:pt x="410718" y="518160"/>
                    <a:pt x="518160" y="410718"/>
                    <a:pt x="518160" y="278130"/>
                  </a:cubicBezTo>
                  <a:cubicBezTo>
                    <a:pt x="518160" y="145542"/>
                    <a:pt x="410718" y="38100"/>
                    <a:pt x="278130" y="38100"/>
                  </a:cubicBezTo>
                  <a:lnTo>
                    <a:pt x="278130" y="19050"/>
                  </a:lnTo>
                  <a:lnTo>
                    <a:pt x="278130" y="38100"/>
                  </a:lnTo>
                  <a:cubicBezTo>
                    <a:pt x="145542" y="38100"/>
                    <a:pt x="38100" y="145542"/>
                    <a:pt x="38100" y="27813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2382202" y="3012758"/>
            <a:ext cx="14209395" cy="269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sz="172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 YOU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813584" y="6742747"/>
            <a:ext cx="3086100" cy="777240"/>
            <a:chOff x="0" y="0"/>
            <a:chExt cx="4114800" cy="10363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14800" cy="1036320"/>
            </a:xfrm>
            <a:custGeom>
              <a:avLst/>
              <a:gdLst/>
              <a:ahLst/>
              <a:cxnLst/>
              <a:rect r="r" b="b" t="t" l="l"/>
              <a:pathLst>
                <a:path h="1036320" w="411480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lnTo>
                    <a:pt x="3596640" y="0"/>
                  </a:lnTo>
                  <a:cubicBezTo>
                    <a:pt x="3882771" y="0"/>
                    <a:pt x="4114800" y="232029"/>
                    <a:pt x="4114800" y="518160"/>
                  </a:cubicBezTo>
                  <a:cubicBezTo>
                    <a:pt x="4114800" y="804291"/>
                    <a:pt x="3882771" y="1036320"/>
                    <a:pt x="3596640" y="1036320"/>
                  </a:cubicBezTo>
                  <a:lnTo>
                    <a:pt x="518160" y="1036320"/>
                  </a:ln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6160681" y="6858952"/>
            <a:ext cx="23928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402E7F"/>
                </a:solidFill>
                <a:latin typeface="Arimo"/>
                <a:ea typeface="Arimo"/>
                <a:cs typeface="Arimo"/>
                <a:sym typeface="Arimo"/>
              </a:rPr>
              <a:t>Team ZapPay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387364" y="6742747"/>
            <a:ext cx="3086100" cy="777240"/>
            <a:chOff x="0" y="0"/>
            <a:chExt cx="4114800" cy="1036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14800" cy="1036320"/>
            </a:xfrm>
            <a:custGeom>
              <a:avLst/>
              <a:gdLst/>
              <a:ahLst/>
              <a:cxnLst/>
              <a:rect r="r" b="b" t="t" l="l"/>
              <a:pathLst>
                <a:path h="1036320" w="4114800">
                  <a:moveTo>
                    <a:pt x="0" y="518160"/>
                  </a:moveTo>
                  <a:cubicBezTo>
                    <a:pt x="0" y="232029"/>
                    <a:pt x="232029" y="0"/>
                    <a:pt x="518160" y="0"/>
                  </a:cubicBezTo>
                  <a:lnTo>
                    <a:pt x="3596640" y="0"/>
                  </a:lnTo>
                  <a:cubicBezTo>
                    <a:pt x="3882771" y="0"/>
                    <a:pt x="4114800" y="232029"/>
                    <a:pt x="4114800" y="518160"/>
                  </a:cubicBezTo>
                  <a:cubicBezTo>
                    <a:pt x="4114800" y="804291"/>
                    <a:pt x="3882771" y="1036320"/>
                    <a:pt x="3596640" y="1036320"/>
                  </a:cubicBezTo>
                  <a:lnTo>
                    <a:pt x="518160" y="1036320"/>
                  </a:lnTo>
                  <a:cubicBezTo>
                    <a:pt x="232029" y="1036320"/>
                    <a:pt x="0" y="804291"/>
                    <a:pt x="0" y="51816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977423" y="6858952"/>
            <a:ext cx="190693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402E7F"/>
                </a:solidFill>
                <a:latin typeface="Arimo"/>
                <a:ea typeface="Arimo"/>
                <a:cs typeface="Arimo"/>
                <a:sym typeface="Arimo"/>
              </a:rPr>
              <a:t>2025/12/05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DAG6fOt3SQk</dc:identifier>
  <dcterms:modified xsi:type="dcterms:W3CDTF">2011-08-01T06:04:30Z</dcterms:modified>
  <cp:revision>1</cp:revision>
  <dc:title>ZapPay_ Fueling India’s Digital Drive.pptx</dc:title>
</cp:coreProperties>
</file>